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8fd6a5e0-8882-d801-fa60-70b5a69c83c4}">
          <p14:sldIdLst>
            <p14:sldId id="256"/>
            <p14:sldId id="257"/>
            <p14:sldId id="258"/>
          </p14:sldIdLst>
        </p14:section>
        <p14:section name="System Design" id="{077343aa-e9c1-0a12-8182-44ceccfd430b}">
          <p14:sldIdLst>
            <p14:sldId id="259"/>
          </p14:sldIdLst>
        </p14:section>
        <p14:section name="Unit V – Angular" id="{96a69d08-a39a-497f-1876-3b4a32662275}">
          <p14:sldIdLst>
            <p14:sldId id="260"/>
            <p14:sldId id="261"/>
            <p14:sldId id="262"/>
            <p14:sldId id="263"/>
          </p14:sldIdLst>
        </p14:section>
        <p14:section name="Output &amp; Team" id="{5d20e017-6159-b54a-7da7-3add2acd06bb}">
          <p14:sldIdLst>
            <p14:sldId id="264"/>
            <p14:sldId id="265"/>
          </p14:sldIdLst>
        </p14:section>
        <p14:section name="Wrap-up" id="{25e75efc-a9c5-5dbf-d437-f7df8d93cdd1}">
          <p14:sldIdLst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team and the project title. Replace every bracketed field.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project and the real-world problem it solves in your own words.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3 clear goals, then describe your solution and its main features.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how a user action flows from the component to the service, through HttpClient to the backend, and back to the view. Mention the tools and libraries used.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key slide. Show exactly where each Unit V concept is used in your project and who implemented it. The next slides explain each concept with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how the app is split into components, then show one real example each of data binding, a directive and a pipe from your templates. Delete anything you did not 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why logic is kept in services, how dependency injection supplies them to components, and when ngOnInit runs.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a validation error message and page navigation in the live demo. Replace the sample code with your 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key screens and summarize what works, then switch to the live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member explains their own part and is ready for viva questions on the Angular concepts they used.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Summarize what you learned and what you would add with more time. List every source used.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Invite questions from the panel.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A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nurag University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42600" y="152400"/>
            <a:ext cx="1397000" cy="4127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6197600"/>
            <a:ext cx="571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AI &amp; ML • ANURAG UNIVERSITY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350000" y="6197600"/>
            <a:ext cx="406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A6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EWP · Team [No.] · [Project Title]</a:t>
            </a:r>
            <a:endParaRPr lang="en-US" sz="1200" dirty="0"/>
          </a:p>
        </p:txBody>
      </p:sp>
      <p:sp>
        <p:nvSpPr>
          <p:cNvPr id="5" name="Text 2"/>
          <p:cNvSpPr/>
          <p:nvPr>
            <p:ph idx="103" type="title" hasCustomPrompt="1"/>
          </p:nvPr>
        </p:nvSpPr>
        <p:spPr>
          <a:xfrm>
            <a:off x="1600200" y="1016000"/>
            <a:ext cx="8763000" cy="482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0020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FA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nurag University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42600" y="152400"/>
            <a:ext cx="1397000" cy="41275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0" y="0"/>
            <a:ext cx="1397000" cy="1397000"/>
          </a:xfrm>
          <a:prstGeom prst="rtTriangle">
            <a:avLst/>
          </a:prstGeom>
          <a:solidFill>
            <a:srgbClr val="8E0000"/>
          </a:solidFill>
          <a:ln/>
        </p:spPr>
      </p:sp>
      <p:sp>
        <p:nvSpPr>
          <p:cNvPr id="3" name="Shape 1"/>
          <p:cNvSpPr/>
          <p:nvPr/>
        </p:nvSpPr>
        <p:spPr>
          <a:xfrm flipV="1">
            <a:off x="0" y="0"/>
            <a:ext cx="825500" cy="825500"/>
          </a:xfrm>
          <a:prstGeom prst="rtTriangle">
            <a:avLst/>
          </a:prstGeom>
          <a:solidFill>
            <a:srgbClr val="002060"/>
          </a:solidFill>
          <a:ln/>
        </p:spPr>
      </p:sp>
      <p:sp>
        <p:nvSpPr>
          <p:cNvPr id="4" name="Shape 2"/>
          <p:cNvSpPr/>
          <p:nvPr/>
        </p:nvSpPr>
        <p:spPr>
          <a:xfrm flipH="1">
            <a:off x="10795000" y="5461000"/>
            <a:ext cx="1397000" cy="1397000"/>
          </a:xfrm>
          <a:prstGeom prst="rtTriangle">
            <a:avLst/>
          </a:prstGeom>
          <a:solidFill>
            <a:srgbClr val="002060"/>
          </a:solidFill>
          <a:ln/>
        </p:spPr>
      </p:sp>
      <p:sp>
        <p:nvSpPr>
          <p:cNvPr id="5" name="Shape 3"/>
          <p:cNvSpPr/>
          <p:nvPr/>
        </p:nvSpPr>
        <p:spPr>
          <a:xfrm flipH="1">
            <a:off x="11366500" y="6032500"/>
            <a:ext cx="825500" cy="825500"/>
          </a:xfrm>
          <a:prstGeom prst="rtTriangle">
            <a:avLst/>
          </a:prstGeom>
          <a:solidFill>
            <a:srgbClr val="8E0000"/>
          </a:solidFill>
          <a:ln/>
        </p:spPr>
      </p:sp>
      <p:sp>
        <p:nvSpPr>
          <p:cNvPr id="6" name="Shape 4"/>
          <p:cNvSpPr/>
          <p:nvPr/>
        </p:nvSpPr>
        <p:spPr>
          <a:xfrm>
            <a:off x="812800" y="812800"/>
            <a:ext cx="38100" cy="609600"/>
          </a:xfrm>
          <a:prstGeom prst="rect">
            <a:avLst/>
          </a:prstGeom>
          <a:solidFill>
            <a:srgbClr val="8E000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16000" y="812800"/>
            <a:ext cx="6985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Artificial Intelligence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Machine Learning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12800" y="2159000"/>
            <a:ext cx="952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8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ESSENTIALS OF WEB PROGRAMMING (EWP) · PROJECT PRESENTATION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12800" y="2476500"/>
            <a:ext cx="9525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20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[Project Title]</a:t>
            </a:r>
            <a:endParaRPr lang="en-US" sz="4400" dirty="0"/>
          </a:p>
        </p:txBody>
      </p:sp>
      <p:sp>
        <p:nvSpPr>
          <p:cNvPr id="10" name="Shape 8"/>
          <p:cNvSpPr/>
          <p:nvPr/>
        </p:nvSpPr>
        <p:spPr>
          <a:xfrm>
            <a:off x="812800" y="3365500"/>
            <a:ext cx="2730500" cy="355600"/>
          </a:xfrm>
          <a:prstGeom prst="roundRect">
            <a:avLst>
              <a:gd name="adj" fmla="val 48857"/>
            </a:avLst>
          </a:prstGeom>
          <a:solidFill>
            <a:srgbClr val="00206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12800" y="3365500"/>
            <a:ext cx="2730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Mapped to Unit V – Angular</a:t>
            </a:r>
            <a:endParaRPr lang="en-US" sz="14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4140200"/>
          <a:ext cx="6223000" cy="914400"/>
        </p:xfrm>
        <a:graphic>
          <a:graphicData uri="http://schemas.openxmlformats.org/drawingml/2006/table">
            <a:tbl>
              <a:tblPr/>
              <a:tblGrid>
                <a:gridCol w="1991360"/>
                <a:gridCol w="4231640"/>
              </a:tblGrid>
              <a:tr h="3683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Roll No.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 [No.] Members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2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[Roll No.]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2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[Student Name 1]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2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[Roll No.]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2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[Student Name 2]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2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[Roll No.]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2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[Student Name 3]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2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[Roll No.]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2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[Student Name 4]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</a:tr>
            </a:tbl>
          </a:graphicData>
        </a:graphic>
      </p:graphicFrame>
      <p:sp>
        <p:nvSpPr>
          <p:cNvPr id="13" name="Text 10"/>
          <p:cNvSpPr txBox="1"/>
          <p:nvPr/>
        </p:nvSpPr>
        <p:spPr>
          <a:xfrm>
            <a:off x="7493000" y="4889500"/>
            <a:ext cx="3175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GUIDANCE OF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7493000" y="5130800"/>
            <a:ext cx="3175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[Faculty Name]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7493000" y="5435600"/>
            <a:ext cx="3175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D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[Designation], Dept. of AI &amp; ML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0" y="0"/>
            <a:ext cx="1397000" cy="1397000"/>
          </a:xfrm>
          <a:prstGeom prst="rtTriangle">
            <a:avLst/>
          </a:prstGeom>
          <a:solidFill>
            <a:srgbClr val="8E0000"/>
          </a:solidFill>
          <a:ln/>
        </p:spPr>
      </p:sp>
      <p:sp>
        <p:nvSpPr>
          <p:cNvPr id="3" name="Shape 1"/>
          <p:cNvSpPr/>
          <p:nvPr/>
        </p:nvSpPr>
        <p:spPr>
          <a:xfrm flipV="1">
            <a:off x="0" y="0"/>
            <a:ext cx="825500" cy="825500"/>
          </a:xfrm>
          <a:prstGeom prst="rtTriangle">
            <a:avLst/>
          </a:prstGeom>
          <a:solidFill>
            <a:srgbClr val="002060"/>
          </a:solidFill>
          <a:ln/>
        </p:spPr>
      </p:sp>
      <p:sp>
        <p:nvSpPr>
          <p:cNvPr id="4" name="Shape 2"/>
          <p:cNvSpPr/>
          <p:nvPr/>
        </p:nvSpPr>
        <p:spPr>
          <a:xfrm flipH="1">
            <a:off x="10795000" y="5461000"/>
            <a:ext cx="1397000" cy="1397000"/>
          </a:xfrm>
          <a:prstGeom prst="rtTriangle">
            <a:avLst/>
          </a:prstGeom>
          <a:solidFill>
            <a:srgbClr val="002060"/>
          </a:solidFill>
          <a:ln/>
        </p:spPr>
      </p:sp>
      <p:sp>
        <p:nvSpPr>
          <p:cNvPr id="5" name="Shape 3"/>
          <p:cNvSpPr/>
          <p:nvPr/>
        </p:nvSpPr>
        <p:spPr>
          <a:xfrm flipH="1">
            <a:off x="11366500" y="6032500"/>
            <a:ext cx="825500" cy="825500"/>
          </a:xfrm>
          <a:prstGeom prst="rtTriangle">
            <a:avLst/>
          </a:prstGeom>
          <a:solidFill>
            <a:srgbClr val="8E0000"/>
          </a:solidFill>
          <a:ln/>
        </p:spPr>
      </p:sp>
      <p:sp>
        <p:nvSpPr>
          <p:cNvPr id="6" name="Shape 4"/>
          <p:cNvSpPr/>
          <p:nvPr/>
        </p:nvSpPr>
        <p:spPr>
          <a:xfrm>
            <a:off x="812800" y="889000"/>
            <a:ext cx="609600" cy="609600"/>
          </a:xfrm>
          <a:prstGeom prst="ellipse">
            <a:avLst/>
          </a:prstGeom>
          <a:solidFill>
            <a:srgbClr val="002060"/>
          </a:solidFill>
          <a:ln w="38100">
            <a:solidFill>
              <a:srgbClr val="8E000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5200" y="1041400"/>
            <a:ext cx="304800" cy="3048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00200" y="812800"/>
            <a:ext cx="8763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9" name="Text 2"/>
          <p:cNvSpPr/>
          <p:nvPr>
            <p:ph idx="103" type="title" hasCustomPrompt="1"/>
          </p:nvPr>
        </p:nvSpPr>
        <p:spPr>
          <a:xfrm>
            <a:off x="1600200" y="1016000"/>
            <a:ext cx="8763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20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 &amp; Problem Statement</a:t>
            </a:r>
            <a:endParaRPr lang="en-US" sz="3200" dirty="0"/>
          </a:p>
        </p:txBody>
      </p:sp>
      <p:sp>
        <p:nvSpPr>
          <p:cNvPr id="11" name="Text 7"/>
          <p:cNvSpPr txBox="1"/>
          <p:nvPr/>
        </p:nvSpPr>
        <p:spPr>
          <a:xfrm>
            <a:off x="812800" y="1803400"/>
            <a:ext cx="10566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8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812800" y="2108200"/>
            <a:ext cx="105664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D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[4–5 line summary: what the Angular web application does, who it is for, and the key outcome. Example: "This project is an Angular web application that helps ... It uses components, services, forms and routing to ..."]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812800" y="3302000"/>
            <a:ext cx="10566400" cy="1460500"/>
          </a:xfrm>
          <a:prstGeom prst="roundRect">
            <a:avLst>
              <a:gd name="adj" fmla="val 5009"/>
            </a:avLst>
          </a:prstGeom>
          <a:solidFill>
            <a:srgbClr val="002060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1168400" y="3556000"/>
            <a:ext cx="9906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C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1168400" y="3886200"/>
            <a:ext cx="9906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[State the problem in one or two sentences. Who faces it, and why is it important to solve?]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0" y="0"/>
            <a:ext cx="1397000" cy="1397000"/>
          </a:xfrm>
          <a:prstGeom prst="rtTriangle">
            <a:avLst/>
          </a:prstGeom>
          <a:solidFill>
            <a:srgbClr val="8E0000"/>
          </a:solidFill>
          <a:ln/>
        </p:spPr>
      </p:sp>
      <p:sp>
        <p:nvSpPr>
          <p:cNvPr id="3" name="Shape 1"/>
          <p:cNvSpPr/>
          <p:nvPr/>
        </p:nvSpPr>
        <p:spPr>
          <a:xfrm flipV="1">
            <a:off x="0" y="0"/>
            <a:ext cx="825500" cy="825500"/>
          </a:xfrm>
          <a:prstGeom prst="rtTriangle">
            <a:avLst/>
          </a:prstGeom>
          <a:solidFill>
            <a:srgbClr val="002060"/>
          </a:solidFill>
          <a:ln/>
        </p:spPr>
      </p:sp>
      <p:sp>
        <p:nvSpPr>
          <p:cNvPr id="4" name="Shape 2"/>
          <p:cNvSpPr/>
          <p:nvPr/>
        </p:nvSpPr>
        <p:spPr>
          <a:xfrm flipH="1">
            <a:off x="10795000" y="5461000"/>
            <a:ext cx="1397000" cy="1397000"/>
          </a:xfrm>
          <a:prstGeom prst="rtTriangle">
            <a:avLst/>
          </a:prstGeom>
          <a:solidFill>
            <a:srgbClr val="002060"/>
          </a:solidFill>
          <a:ln/>
        </p:spPr>
      </p:sp>
      <p:sp>
        <p:nvSpPr>
          <p:cNvPr id="5" name="Shape 3"/>
          <p:cNvSpPr/>
          <p:nvPr/>
        </p:nvSpPr>
        <p:spPr>
          <a:xfrm flipH="1">
            <a:off x="11366500" y="6032500"/>
            <a:ext cx="825500" cy="825500"/>
          </a:xfrm>
          <a:prstGeom prst="rtTriangle">
            <a:avLst/>
          </a:prstGeom>
          <a:solidFill>
            <a:srgbClr val="8E0000"/>
          </a:solidFill>
          <a:ln/>
        </p:spPr>
      </p:sp>
      <p:sp>
        <p:nvSpPr>
          <p:cNvPr id="6" name="Shape 4"/>
          <p:cNvSpPr/>
          <p:nvPr/>
        </p:nvSpPr>
        <p:spPr>
          <a:xfrm>
            <a:off x="812800" y="889000"/>
            <a:ext cx="609600" cy="609600"/>
          </a:xfrm>
          <a:prstGeom prst="ellipse">
            <a:avLst/>
          </a:prstGeom>
          <a:solidFill>
            <a:srgbClr val="002060"/>
          </a:solidFill>
          <a:ln w="38100">
            <a:solidFill>
              <a:srgbClr val="8E000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5200" y="1041400"/>
            <a:ext cx="304800" cy="3048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00200" y="812800"/>
            <a:ext cx="8763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9" name="Text 2"/>
          <p:cNvSpPr/>
          <p:nvPr>
            <p:ph idx="103" type="title" hasCustomPrompt="1"/>
          </p:nvPr>
        </p:nvSpPr>
        <p:spPr>
          <a:xfrm>
            <a:off x="1600200" y="1016000"/>
            <a:ext cx="8763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20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 &amp; Proposed System</a:t>
            </a:r>
            <a:endParaRPr lang="en-US" sz="3200" dirty="0"/>
          </a:p>
        </p:txBody>
      </p:sp>
      <p:sp>
        <p:nvSpPr>
          <p:cNvPr id="11" name="Text 7"/>
          <p:cNvSpPr txBox="1"/>
          <p:nvPr/>
        </p:nvSpPr>
        <p:spPr>
          <a:xfrm>
            <a:off x="812800" y="1803400"/>
            <a:ext cx="508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8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812800" y="2159000"/>
            <a:ext cx="5080000" cy="711200"/>
          </a:xfrm>
          <a:prstGeom prst="roundRect">
            <a:avLst>
              <a:gd name="adj" fmla="val 10286"/>
            </a:avLst>
          </a:prstGeom>
          <a:solidFill>
            <a:srgbClr val="FFFFFF"/>
          </a:solidFill>
          <a:ln w="12700">
            <a:solidFill>
              <a:srgbClr val="DDE1EA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1016000" y="2159000"/>
            <a:ext cx="5715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E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14" name="Text 10"/>
          <p:cNvSpPr txBox="1"/>
          <p:nvPr/>
        </p:nvSpPr>
        <p:spPr>
          <a:xfrm>
            <a:off x="1625600" y="2159000"/>
            <a:ext cx="40640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[Objective 1]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812800" y="3022600"/>
            <a:ext cx="5080000" cy="711200"/>
          </a:xfrm>
          <a:prstGeom prst="roundRect">
            <a:avLst>
              <a:gd name="adj" fmla="val 10286"/>
            </a:avLst>
          </a:prstGeom>
          <a:solidFill>
            <a:srgbClr val="FFFFFF"/>
          </a:solidFill>
          <a:ln w="12700">
            <a:solidFill>
              <a:srgbClr val="DDE1EA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1016000" y="3022600"/>
            <a:ext cx="5715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E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7" name="Text 13"/>
          <p:cNvSpPr txBox="1"/>
          <p:nvPr/>
        </p:nvSpPr>
        <p:spPr>
          <a:xfrm>
            <a:off x="1625600" y="3022600"/>
            <a:ext cx="40640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[Objective 2]</a:t>
            </a:r>
            <a:endParaRPr lang="en-US" sz="1500" dirty="0"/>
          </a:p>
        </p:txBody>
      </p:sp>
      <p:sp>
        <p:nvSpPr>
          <p:cNvPr id="18" name="Shape 14"/>
          <p:cNvSpPr/>
          <p:nvPr/>
        </p:nvSpPr>
        <p:spPr>
          <a:xfrm>
            <a:off x="812800" y="3886200"/>
            <a:ext cx="5080000" cy="711200"/>
          </a:xfrm>
          <a:prstGeom prst="roundRect">
            <a:avLst>
              <a:gd name="adj" fmla="val 10286"/>
            </a:avLst>
          </a:prstGeom>
          <a:solidFill>
            <a:srgbClr val="FFFFFF"/>
          </a:solidFill>
          <a:ln w="12700">
            <a:solidFill>
              <a:srgbClr val="DDE1EA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1016000" y="3886200"/>
            <a:ext cx="5715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E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20" name="Text 16"/>
          <p:cNvSpPr txBox="1"/>
          <p:nvPr/>
        </p:nvSpPr>
        <p:spPr>
          <a:xfrm>
            <a:off x="1625600" y="3886200"/>
            <a:ext cx="40640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[Objective 3]</a:t>
            </a:r>
            <a:endParaRPr lang="en-US" sz="1500" dirty="0"/>
          </a:p>
        </p:txBody>
      </p:sp>
      <p:sp>
        <p:nvSpPr>
          <p:cNvPr id="21" name="Shape 17"/>
          <p:cNvSpPr/>
          <p:nvPr/>
        </p:nvSpPr>
        <p:spPr>
          <a:xfrm>
            <a:off x="6197600" y="1803400"/>
            <a:ext cx="5181600" cy="3657600"/>
          </a:xfrm>
          <a:prstGeom prst="roundRect">
            <a:avLst>
              <a:gd name="adj" fmla="val 2000"/>
            </a:avLst>
          </a:prstGeom>
          <a:solidFill>
            <a:srgbClr val="002060"/>
          </a:solidFill>
          <a:ln/>
        </p:spPr>
      </p:sp>
      <p:sp>
        <p:nvSpPr>
          <p:cNvPr id="22" name="Text 18"/>
          <p:cNvSpPr txBox="1"/>
          <p:nvPr/>
        </p:nvSpPr>
        <p:spPr>
          <a:xfrm>
            <a:off x="6477000" y="2032000"/>
            <a:ext cx="4699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C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</a:t>
            </a:r>
            <a:endParaRPr lang="en-US" sz="1600" dirty="0"/>
          </a:p>
        </p:txBody>
      </p:sp>
      <p:sp>
        <p:nvSpPr>
          <p:cNvPr id="23" name="Text 19"/>
          <p:cNvSpPr txBox="1"/>
          <p:nvPr/>
        </p:nvSpPr>
        <p:spPr>
          <a:xfrm>
            <a:off x="6477000" y="2362200"/>
            <a:ext cx="46228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[2–3 lines: what your Angular application does and how it improves on current methods.]</a:t>
            </a:r>
            <a:endParaRPr lang="en-US" sz="1500" dirty="0"/>
          </a:p>
        </p:txBody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000" y="3568700"/>
            <a:ext cx="228600" cy="228600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6807200" y="3556000"/>
            <a:ext cx="4292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[Key feature 1]</a:t>
            </a:r>
            <a:endParaRPr lang="en-US" sz="1500" dirty="0"/>
          </a:p>
        </p:txBody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0" y="4076700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6807200" y="4064000"/>
            <a:ext cx="4292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[Key feature 2]</a:t>
            </a:r>
            <a:endParaRPr lang="en-US" sz="1500" dirty="0"/>
          </a:p>
        </p:txBody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7000" y="4584700"/>
            <a:ext cx="228600" cy="228600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6807200" y="4572000"/>
            <a:ext cx="4292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[Key feature 3]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0" y="0"/>
            <a:ext cx="1397000" cy="1397000"/>
          </a:xfrm>
          <a:prstGeom prst="rtTriangle">
            <a:avLst/>
          </a:prstGeom>
          <a:solidFill>
            <a:srgbClr val="8E0000"/>
          </a:solidFill>
          <a:ln/>
        </p:spPr>
      </p:sp>
      <p:sp>
        <p:nvSpPr>
          <p:cNvPr id="3" name="Shape 1"/>
          <p:cNvSpPr/>
          <p:nvPr/>
        </p:nvSpPr>
        <p:spPr>
          <a:xfrm flipV="1">
            <a:off x="0" y="0"/>
            <a:ext cx="825500" cy="825500"/>
          </a:xfrm>
          <a:prstGeom prst="rtTriangle">
            <a:avLst/>
          </a:prstGeom>
          <a:solidFill>
            <a:srgbClr val="002060"/>
          </a:solidFill>
          <a:ln/>
        </p:spPr>
      </p:sp>
      <p:sp>
        <p:nvSpPr>
          <p:cNvPr id="4" name="Shape 2"/>
          <p:cNvSpPr/>
          <p:nvPr/>
        </p:nvSpPr>
        <p:spPr>
          <a:xfrm flipH="1">
            <a:off x="10795000" y="5461000"/>
            <a:ext cx="1397000" cy="1397000"/>
          </a:xfrm>
          <a:prstGeom prst="rtTriangle">
            <a:avLst/>
          </a:prstGeom>
          <a:solidFill>
            <a:srgbClr val="002060"/>
          </a:solidFill>
          <a:ln/>
        </p:spPr>
      </p:sp>
      <p:sp>
        <p:nvSpPr>
          <p:cNvPr id="5" name="Shape 3"/>
          <p:cNvSpPr/>
          <p:nvPr/>
        </p:nvSpPr>
        <p:spPr>
          <a:xfrm flipH="1">
            <a:off x="11366500" y="6032500"/>
            <a:ext cx="825500" cy="825500"/>
          </a:xfrm>
          <a:prstGeom prst="rtTriangle">
            <a:avLst/>
          </a:prstGeom>
          <a:solidFill>
            <a:srgbClr val="8E0000"/>
          </a:solidFill>
          <a:ln/>
        </p:spPr>
      </p:sp>
      <p:sp>
        <p:nvSpPr>
          <p:cNvPr id="6" name="Shape 4"/>
          <p:cNvSpPr/>
          <p:nvPr/>
        </p:nvSpPr>
        <p:spPr>
          <a:xfrm>
            <a:off x="812800" y="889000"/>
            <a:ext cx="609600" cy="609600"/>
          </a:xfrm>
          <a:prstGeom prst="ellipse">
            <a:avLst/>
          </a:prstGeom>
          <a:solidFill>
            <a:srgbClr val="002060"/>
          </a:solidFill>
          <a:ln w="38100">
            <a:solidFill>
              <a:srgbClr val="8E000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5200" y="1041400"/>
            <a:ext cx="304800" cy="3048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00200" y="812800"/>
            <a:ext cx="8763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9" name="Text 2"/>
          <p:cNvSpPr/>
          <p:nvPr>
            <p:ph idx="103" type="title" hasCustomPrompt="1"/>
          </p:nvPr>
        </p:nvSpPr>
        <p:spPr>
          <a:xfrm>
            <a:off x="1600200" y="1016000"/>
            <a:ext cx="8763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20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Technologies &amp; Architecture</a:t>
            </a:r>
            <a:endParaRPr lang="en-US" sz="3200" dirty="0"/>
          </a:p>
        </p:txBody>
      </p:sp>
      <p:sp>
        <p:nvSpPr>
          <p:cNvPr id="11" name="Shape 7"/>
          <p:cNvSpPr/>
          <p:nvPr/>
        </p:nvSpPr>
        <p:spPr>
          <a:xfrm>
            <a:off x="812800" y="1905000"/>
            <a:ext cx="1587500" cy="1587500"/>
          </a:xfrm>
          <a:prstGeom prst="roundRect">
            <a:avLst>
              <a:gd name="adj" fmla="val 4608"/>
            </a:avLst>
          </a:prstGeom>
          <a:solidFill>
            <a:srgbClr val="FFFFFF"/>
          </a:solidFill>
          <a:ln w="19050">
            <a:solidFill>
              <a:srgbClr val="002060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750" y="2108200"/>
            <a:ext cx="355600" cy="35560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876300" y="2565400"/>
            <a:ext cx="1460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901700" y="2857500"/>
            <a:ext cx="14097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2527300" y="2597150"/>
            <a:ext cx="406400" cy="203200"/>
          </a:xfrm>
          <a:prstGeom prst="rightArrow">
            <a:avLst/>
          </a:prstGeom>
          <a:solidFill>
            <a:srgbClr val="8E0000"/>
          </a:solidFill>
          <a:ln/>
        </p:spPr>
      </p:sp>
      <p:sp>
        <p:nvSpPr>
          <p:cNvPr id="16" name="Shape 11"/>
          <p:cNvSpPr/>
          <p:nvPr/>
        </p:nvSpPr>
        <p:spPr>
          <a:xfrm>
            <a:off x="3060700" y="1905000"/>
            <a:ext cx="1587500" cy="1587500"/>
          </a:xfrm>
          <a:prstGeom prst="roundRect">
            <a:avLst>
              <a:gd name="adj" fmla="val 4608"/>
            </a:avLst>
          </a:prstGeom>
          <a:solidFill>
            <a:srgbClr val="FFFFFF"/>
          </a:solidFill>
          <a:ln w="19050">
            <a:solidFill>
              <a:srgbClr val="002060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6650" y="2108200"/>
            <a:ext cx="355600" cy="35560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3124200" y="2565400"/>
            <a:ext cx="1460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</a:t>
            </a:r>
            <a:endParaRPr lang="en-US" sz="1500" dirty="0"/>
          </a:p>
        </p:txBody>
      </p:sp>
      <p:sp>
        <p:nvSpPr>
          <p:cNvPr id="19" name="Text 13"/>
          <p:cNvSpPr txBox="1"/>
          <p:nvPr/>
        </p:nvSpPr>
        <p:spPr>
          <a:xfrm>
            <a:off x="3149600" y="2857500"/>
            <a:ext cx="14097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+ TypeScript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4775200" y="2597150"/>
            <a:ext cx="406400" cy="203200"/>
          </a:xfrm>
          <a:prstGeom prst="rightArrow">
            <a:avLst/>
          </a:prstGeom>
          <a:solidFill>
            <a:srgbClr val="8E0000"/>
          </a:solidFill>
          <a:ln/>
        </p:spPr>
      </p:sp>
      <p:sp>
        <p:nvSpPr>
          <p:cNvPr id="21" name="Shape 15"/>
          <p:cNvSpPr/>
          <p:nvPr/>
        </p:nvSpPr>
        <p:spPr>
          <a:xfrm>
            <a:off x="5308600" y="1905000"/>
            <a:ext cx="1587500" cy="1587500"/>
          </a:xfrm>
          <a:prstGeom prst="roundRect">
            <a:avLst>
              <a:gd name="adj" fmla="val 4608"/>
            </a:avLst>
          </a:prstGeom>
          <a:solidFill>
            <a:srgbClr val="FFFFFF"/>
          </a:solidFill>
          <a:ln w="19050">
            <a:solidFill>
              <a:srgbClr val="002060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4550" y="2108200"/>
            <a:ext cx="355600" cy="355600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5372100" y="2565400"/>
            <a:ext cx="1460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1500" dirty="0"/>
          </a:p>
        </p:txBody>
      </p:sp>
      <p:sp>
        <p:nvSpPr>
          <p:cNvPr id="24" name="Text 17"/>
          <p:cNvSpPr txBox="1"/>
          <p:nvPr/>
        </p:nvSpPr>
        <p:spPr>
          <a:xfrm>
            <a:off x="5397500" y="2857500"/>
            <a:ext cx="14097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Injection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7023100" y="2597150"/>
            <a:ext cx="406400" cy="203200"/>
          </a:xfrm>
          <a:prstGeom prst="rightArrow">
            <a:avLst/>
          </a:prstGeom>
          <a:solidFill>
            <a:srgbClr val="8E0000"/>
          </a:solidFill>
          <a:ln/>
        </p:spPr>
      </p:sp>
      <p:sp>
        <p:nvSpPr>
          <p:cNvPr id="26" name="Shape 19"/>
          <p:cNvSpPr/>
          <p:nvPr/>
        </p:nvSpPr>
        <p:spPr>
          <a:xfrm>
            <a:off x="7556500" y="1905000"/>
            <a:ext cx="1587500" cy="1587500"/>
          </a:xfrm>
          <a:prstGeom prst="roundRect">
            <a:avLst>
              <a:gd name="adj" fmla="val 4608"/>
            </a:avLst>
          </a:prstGeom>
          <a:solidFill>
            <a:srgbClr val="FFFFFF"/>
          </a:solidFill>
          <a:ln w="19050">
            <a:solidFill>
              <a:srgbClr val="002060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72450" y="2108200"/>
            <a:ext cx="355600" cy="355600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7620000" y="2565400"/>
            <a:ext cx="1460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HttpClient</a:t>
            </a:r>
            <a:endParaRPr lang="en-US" sz="1500" dirty="0"/>
          </a:p>
        </p:txBody>
      </p:sp>
      <p:sp>
        <p:nvSpPr>
          <p:cNvPr id="29" name="Text 21"/>
          <p:cNvSpPr txBox="1"/>
          <p:nvPr/>
        </p:nvSpPr>
        <p:spPr>
          <a:xfrm>
            <a:off x="7645400" y="2857500"/>
            <a:ext cx="14097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calls</a:t>
            </a:r>
            <a:endParaRPr lang="en-US" sz="1200" dirty="0"/>
          </a:p>
        </p:txBody>
      </p:sp>
      <p:sp>
        <p:nvSpPr>
          <p:cNvPr id="30" name="Shape 22"/>
          <p:cNvSpPr/>
          <p:nvPr/>
        </p:nvSpPr>
        <p:spPr>
          <a:xfrm>
            <a:off x="9271000" y="2597150"/>
            <a:ext cx="406400" cy="203200"/>
          </a:xfrm>
          <a:prstGeom prst="rightArrow">
            <a:avLst/>
          </a:prstGeom>
          <a:solidFill>
            <a:srgbClr val="8E0000"/>
          </a:solidFill>
          <a:ln/>
        </p:spPr>
      </p:sp>
      <p:sp>
        <p:nvSpPr>
          <p:cNvPr id="31" name="Shape 23"/>
          <p:cNvSpPr/>
          <p:nvPr/>
        </p:nvSpPr>
        <p:spPr>
          <a:xfrm>
            <a:off x="9804400" y="1905000"/>
            <a:ext cx="1587500" cy="1587500"/>
          </a:xfrm>
          <a:prstGeom prst="roundRect">
            <a:avLst>
              <a:gd name="adj" fmla="val 4608"/>
            </a:avLst>
          </a:prstGeom>
          <a:solidFill>
            <a:srgbClr val="002060"/>
          </a:solidFill>
          <a:ln w="19050">
            <a:solidFill>
              <a:srgbClr val="002060"/>
            </a:solidFill>
            <a:prstDash val="solid"/>
          </a:ln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20350" y="2108200"/>
            <a:ext cx="355600" cy="355600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9867900" y="2565400"/>
            <a:ext cx="1460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500" dirty="0"/>
          </a:p>
        </p:txBody>
      </p:sp>
      <p:sp>
        <p:nvSpPr>
          <p:cNvPr id="34" name="Text 25"/>
          <p:cNvSpPr txBox="1"/>
          <p:nvPr/>
        </p:nvSpPr>
        <p:spPr>
          <a:xfrm>
            <a:off x="9893300" y="2857500"/>
            <a:ext cx="14097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6DC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[Node.js / Firebase] + [DB]</a:t>
            </a:r>
            <a:endParaRPr lang="en-US" sz="1200" dirty="0"/>
          </a:p>
        </p:txBody>
      </p:sp>
      <p:sp>
        <p:nvSpPr>
          <p:cNvPr id="35" name="Shape 26"/>
          <p:cNvSpPr/>
          <p:nvPr/>
        </p:nvSpPr>
        <p:spPr>
          <a:xfrm>
            <a:off x="812800" y="3937000"/>
            <a:ext cx="3422650" cy="825500"/>
          </a:xfrm>
          <a:prstGeom prst="roundRect">
            <a:avLst>
              <a:gd name="adj" fmla="val 8862"/>
            </a:avLst>
          </a:prstGeom>
          <a:solidFill>
            <a:srgbClr val="EEF0F6"/>
          </a:solidFill>
          <a:ln/>
        </p:spPr>
      </p:sp>
      <p:sp>
        <p:nvSpPr>
          <p:cNvPr id="36" name="Text 27"/>
          <p:cNvSpPr txBox="1"/>
          <p:nvPr/>
        </p:nvSpPr>
        <p:spPr>
          <a:xfrm>
            <a:off x="990600" y="4089400"/>
            <a:ext cx="3067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LIBRARY</a:t>
            </a:r>
            <a:endParaRPr lang="en-US" sz="1200" dirty="0"/>
          </a:p>
        </p:txBody>
      </p:sp>
      <p:sp>
        <p:nvSpPr>
          <p:cNvPr id="37" name="Text 28"/>
          <p:cNvSpPr txBox="1"/>
          <p:nvPr/>
        </p:nvSpPr>
        <p:spPr>
          <a:xfrm>
            <a:off x="990600" y="4318000"/>
            <a:ext cx="306705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D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[Bootstrap / Angular Material]</a:t>
            </a:r>
            <a:endParaRPr lang="en-US" sz="1400" dirty="0"/>
          </a:p>
        </p:txBody>
      </p:sp>
      <p:sp>
        <p:nvSpPr>
          <p:cNvPr id="38" name="Shape 29"/>
          <p:cNvSpPr/>
          <p:nvPr/>
        </p:nvSpPr>
        <p:spPr>
          <a:xfrm>
            <a:off x="4387850" y="3937000"/>
            <a:ext cx="3422650" cy="825500"/>
          </a:xfrm>
          <a:prstGeom prst="roundRect">
            <a:avLst>
              <a:gd name="adj" fmla="val 8862"/>
            </a:avLst>
          </a:prstGeom>
          <a:solidFill>
            <a:srgbClr val="EEF0F6"/>
          </a:solidFill>
          <a:ln/>
        </p:spPr>
      </p:sp>
      <p:sp>
        <p:nvSpPr>
          <p:cNvPr id="39" name="Text 30"/>
          <p:cNvSpPr txBox="1"/>
          <p:nvPr/>
        </p:nvSpPr>
        <p:spPr>
          <a:xfrm>
            <a:off x="4565650" y="4089400"/>
            <a:ext cx="3067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200" dirty="0"/>
          </a:p>
        </p:txBody>
      </p:sp>
      <p:sp>
        <p:nvSpPr>
          <p:cNvPr id="40" name="Text 31"/>
          <p:cNvSpPr txBox="1"/>
          <p:nvPr/>
        </p:nvSpPr>
        <p:spPr>
          <a:xfrm>
            <a:off x="4565650" y="4318000"/>
            <a:ext cx="306705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D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CLI, VS Code, Git &amp; GitHub</a:t>
            </a:r>
            <a:endParaRPr lang="en-US" sz="1400" dirty="0"/>
          </a:p>
        </p:txBody>
      </p:sp>
      <p:sp>
        <p:nvSpPr>
          <p:cNvPr id="41" name="Shape 32"/>
          <p:cNvSpPr/>
          <p:nvPr/>
        </p:nvSpPr>
        <p:spPr>
          <a:xfrm>
            <a:off x="7962900" y="3937000"/>
            <a:ext cx="3422650" cy="825500"/>
          </a:xfrm>
          <a:prstGeom prst="roundRect">
            <a:avLst>
              <a:gd name="adj" fmla="val 8862"/>
            </a:avLst>
          </a:prstGeom>
          <a:solidFill>
            <a:srgbClr val="EEF0F6"/>
          </a:solidFill>
          <a:ln/>
        </p:spPr>
      </p:sp>
      <p:sp>
        <p:nvSpPr>
          <p:cNvPr id="42" name="Text 33"/>
          <p:cNvSpPr txBox="1"/>
          <p:nvPr/>
        </p:nvSpPr>
        <p:spPr>
          <a:xfrm>
            <a:off x="8140700" y="4089400"/>
            <a:ext cx="3067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</a:t>
            </a:r>
            <a:endParaRPr lang="en-US" sz="1200" dirty="0"/>
          </a:p>
        </p:txBody>
      </p:sp>
      <p:sp>
        <p:nvSpPr>
          <p:cNvPr id="43" name="Text 34"/>
          <p:cNvSpPr txBox="1"/>
          <p:nvPr/>
        </p:nvSpPr>
        <p:spPr>
          <a:xfrm>
            <a:off x="8140700" y="4318000"/>
            <a:ext cx="306705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D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routerLink + router-outlet switch pages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0" y="0"/>
            <a:ext cx="1397000" cy="1397000"/>
          </a:xfrm>
          <a:prstGeom prst="rtTriangle">
            <a:avLst/>
          </a:prstGeom>
          <a:solidFill>
            <a:srgbClr val="8E0000"/>
          </a:solidFill>
          <a:ln/>
        </p:spPr>
      </p:sp>
      <p:sp>
        <p:nvSpPr>
          <p:cNvPr id="3" name="Shape 1"/>
          <p:cNvSpPr/>
          <p:nvPr/>
        </p:nvSpPr>
        <p:spPr>
          <a:xfrm flipV="1">
            <a:off x="0" y="0"/>
            <a:ext cx="825500" cy="825500"/>
          </a:xfrm>
          <a:prstGeom prst="rtTriangle">
            <a:avLst/>
          </a:prstGeom>
          <a:solidFill>
            <a:srgbClr val="002060"/>
          </a:solidFill>
          <a:ln/>
        </p:spPr>
      </p:sp>
      <p:sp>
        <p:nvSpPr>
          <p:cNvPr id="4" name="Shape 2"/>
          <p:cNvSpPr/>
          <p:nvPr/>
        </p:nvSpPr>
        <p:spPr>
          <a:xfrm flipH="1">
            <a:off x="10795000" y="5461000"/>
            <a:ext cx="1397000" cy="1397000"/>
          </a:xfrm>
          <a:prstGeom prst="rtTriangle">
            <a:avLst/>
          </a:prstGeom>
          <a:solidFill>
            <a:srgbClr val="002060"/>
          </a:solidFill>
          <a:ln/>
        </p:spPr>
      </p:sp>
      <p:sp>
        <p:nvSpPr>
          <p:cNvPr id="5" name="Shape 3"/>
          <p:cNvSpPr/>
          <p:nvPr/>
        </p:nvSpPr>
        <p:spPr>
          <a:xfrm flipH="1">
            <a:off x="11366500" y="6032500"/>
            <a:ext cx="825500" cy="825500"/>
          </a:xfrm>
          <a:prstGeom prst="rtTriangle">
            <a:avLst/>
          </a:prstGeom>
          <a:solidFill>
            <a:srgbClr val="8E0000"/>
          </a:solidFill>
          <a:ln/>
        </p:spPr>
      </p:sp>
      <p:sp>
        <p:nvSpPr>
          <p:cNvPr id="6" name="Shape 4"/>
          <p:cNvSpPr/>
          <p:nvPr/>
        </p:nvSpPr>
        <p:spPr>
          <a:xfrm>
            <a:off x="812800" y="889000"/>
            <a:ext cx="609600" cy="609600"/>
          </a:xfrm>
          <a:prstGeom prst="ellipse">
            <a:avLst/>
          </a:prstGeom>
          <a:solidFill>
            <a:srgbClr val="002060"/>
          </a:solidFill>
          <a:ln w="38100">
            <a:solidFill>
              <a:srgbClr val="8E000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5200" y="1041400"/>
            <a:ext cx="304800" cy="3048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00200" y="812800"/>
            <a:ext cx="8763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V · ANGULAR</a:t>
            </a:r>
            <a:endParaRPr lang="en-US" sz="1200" dirty="0"/>
          </a:p>
        </p:txBody>
      </p:sp>
      <p:sp>
        <p:nvSpPr>
          <p:cNvPr id="9" name="Text 2"/>
          <p:cNvSpPr/>
          <p:nvPr>
            <p:ph idx="103" type="title" hasCustomPrompt="1"/>
          </p:nvPr>
        </p:nvSpPr>
        <p:spPr>
          <a:xfrm>
            <a:off x="1600200" y="1016000"/>
            <a:ext cx="8763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20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Mapping to Unit V Topics</a:t>
            </a:r>
            <a:endParaRPr lang="en-US" sz="3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1778000"/>
          <a:ext cx="10566400" cy="914400"/>
        </p:xfrm>
        <a:graphic>
          <a:graphicData uri="http://schemas.openxmlformats.org/drawingml/2006/table">
            <a:tbl>
              <a:tblPr/>
              <a:tblGrid>
                <a:gridCol w="4015232"/>
                <a:gridCol w="4437888"/>
                <a:gridCol w="2113280"/>
              </a:tblGrid>
              <a:tr h="444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 V Topic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used in our project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2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Angular CLI &amp; Project Setup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2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[e.g., ng new, ng generate]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2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[Name]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2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Components &amp; Modules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2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[Component / module names]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2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[Name]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2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Templates &amp; Data Binding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2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[Page / feature]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2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[Name]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2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Directives &amp; Pipes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2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[Page / feature]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2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[Name]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2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Services &amp; Dependency Injection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2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[Service names]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2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[Name]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2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Lifecycle Hooks &amp; HTTP Client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2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[Data loading / API calls]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2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[Name]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2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Template Driven &amp; Reactive Forms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2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[Form names, validations]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2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[Name]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2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2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[Routes / navigation]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2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[Name]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0" y="0"/>
            <a:ext cx="1397000" cy="1397000"/>
          </a:xfrm>
          <a:prstGeom prst="rtTriangle">
            <a:avLst/>
          </a:prstGeom>
          <a:solidFill>
            <a:srgbClr val="8E0000"/>
          </a:solidFill>
          <a:ln/>
        </p:spPr>
      </p:sp>
      <p:sp>
        <p:nvSpPr>
          <p:cNvPr id="3" name="Shape 1"/>
          <p:cNvSpPr/>
          <p:nvPr/>
        </p:nvSpPr>
        <p:spPr>
          <a:xfrm flipV="1">
            <a:off x="0" y="0"/>
            <a:ext cx="825500" cy="825500"/>
          </a:xfrm>
          <a:prstGeom prst="rtTriangle">
            <a:avLst/>
          </a:prstGeom>
          <a:solidFill>
            <a:srgbClr val="002060"/>
          </a:solidFill>
          <a:ln/>
        </p:spPr>
      </p:sp>
      <p:sp>
        <p:nvSpPr>
          <p:cNvPr id="4" name="Shape 2"/>
          <p:cNvSpPr/>
          <p:nvPr/>
        </p:nvSpPr>
        <p:spPr>
          <a:xfrm flipH="1">
            <a:off x="10795000" y="5461000"/>
            <a:ext cx="1397000" cy="1397000"/>
          </a:xfrm>
          <a:prstGeom prst="rtTriangle">
            <a:avLst/>
          </a:prstGeom>
          <a:solidFill>
            <a:srgbClr val="002060"/>
          </a:solidFill>
          <a:ln/>
        </p:spPr>
      </p:sp>
      <p:sp>
        <p:nvSpPr>
          <p:cNvPr id="5" name="Shape 3"/>
          <p:cNvSpPr/>
          <p:nvPr/>
        </p:nvSpPr>
        <p:spPr>
          <a:xfrm flipH="1">
            <a:off x="11366500" y="6032500"/>
            <a:ext cx="825500" cy="825500"/>
          </a:xfrm>
          <a:prstGeom prst="rtTriangle">
            <a:avLst/>
          </a:prstGeom>
          <a:solidFill>
            <a:srgbClr val="8E0000"/>
          </a:solidFill>
          <a:ln/>
        </p:spPr>
      </p:sp>
      <p:sp>
        <p:nvSpPr>
          <p:cNvPr id="6" name="Shape 4"/>
          <p:cNvSpPr/>
          <p:nvPr/>
        </p:nvSpPr>
        <p:spPr>
          <a:xfrm>
            <a:off x="812800" y="889000"/>
            <a:ext cx="609600" cy="609600"/>
          </a:xfrm>
          <a:prstGeom prst="ellipse">
            <a:avLst/>
          </a:prstGeom>
          <a:solidFill>
            <a:srgbClr val="002060"/>
          </a:solidFill>
          <a:ln w="38100">
            <a:solidFill>
              <a:srgbClr val="8E000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5200" y="1041400"/>
            <a:ext cx="304800" cy="3048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00200" y="812800"/>
            <a:ext cx="8763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V · CLI, COMPONENTS, TEMPLATES, DIRECTIVES &amp; PIPES</a:t>
            </a:r>
            <a:endParaRPr lang="en-US" sz="1200" dirty="0"/>
          </a:p>
        </p:txBody>
      </p:sp>
      <p:sp>
        <p:nvSpPr>
          <p:cNvPr id="9" name="Text 2"/>
          <p:cNvSpPr/>
          <p:nvPr>
            <p:ph idx="103" type="title" hasCustomPrompt="1"/>
          </p:nvPr>
        </p:nvSpPr>
        <p:spPr>
          <a:xfrm>
            <a:off x="1600200" y="1016000"/>
            <a:ext cx="8763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20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Components &amp; Data Binding</a:t>
            </a:r>
            <a:endParaRPr lang="en-US" sz="3200" dirty="0"/>
          </a:p>
        </p:txBody>
      </p:sp>
      <p:sp>
        <p:nvSpPr>
          <p:cNvPr id="11" name="Text 7"/>
          <p:cNvSpPr txBox="1"/>
          <p:nvPr/>
        </p:nvSpPr>
        <p:spPr>
          <a:xfrm>
            <a:off x="812800" y="1803400"/>
            <a:ext cx="508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 &amp; Modules in our project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812800" y="2133600"/>
            <a:ext cx="5080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D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with ng new and ng generate component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D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Components: [header, home, login, dashboard, ...]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D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setup: [AppModule / standalone components]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197600" y="1803400"/>
            <a:ext cx="5181600" cy="1714500"/>
          </a:xfrm>
          <a:prstGeom prst="roundRect">
            <a:avLst>
              <a:gd name="adj" fmla="val 4267"/>
            </a:avLst>
          </a:prstGeom>
          <a:solidFill>
            <a:srgbClr val="0F1C3F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6375400" y="1943100"/>
            <a:ext cx="4826000" cy="143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FB0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sample – replace with your code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@Component({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selector: 'app-[name]',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templateUrl: './[name].component.html'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class [Name]Component { }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812800" y="3810000"/>
            <a:ext cx="3422650" cy="1460500"/>
          </a:xfrm>
          <a:prstGeom prst="roundRect">
            <a:avLst>
              <a:gd name="adj" fmla="val 5009"/>
            </a:avLst>
          </a:prstGeom>
          <a:solidFill>
            <a:srgbClr val="FFFFFF"/>
          </a:solidFill>
          <a:ln w="12700">
            <a:solidFill>
              <a:srgbClr val="DDE1EA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1016000" y="3987800"/>
            <a:ext cx="30162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Binding</a:t>
            </a:r>
            <a:endParaRPr lang="en-US" sz="1500" dirty="0"/>
          </a:p>
        </p:txBody>
      </p:sp>
      <p:sp>
        <p:nvSpPr>
          <p:cNvPr id="17" name="Text 13"/>
          <p:cNvSpPr txBox="1"/>
          <p:nvPr/>
        </p:nvSpPr>
        <p:spPr>
          <a:xfrm>
            <a:off x="1016000" y="4305300"/>
            <a:ext cx="301625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E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{{ }} · [prop] · (event) · [(ngModel)]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1016000" y="4889500"/>
            <a:ext cx="3016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D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in: [page / feature]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4387850" y="3810000"/>
            <a:ext cx="3422650" cy="1460500"/>
          </a:xfrm>
          <a:prstGeom prst="roundRect">
            <a:avLst>
              <a:gd name="adj" fmla="val 5009"/>
            </a:avLst>
          </a:prstGeom>
          <a:solidFill>
            <a:srgbClr val="FFFFFF"/>
          </a:solidFill>
          <a:ln w="12700">
            <a:solidFill>
              <a:srgbClr val="DDE1EA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4591050" y="3987800"/>
            <a:ext cx="30162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Directives</a:t>
            </a:r>
            <a:endParaRPr lang="en-US" sz="1500" dirty="0"/>
          </a:p>
        </p:txBody>
      </p:sp>
      <p:sp>
        <p:nvSpPr>
          <p:cNvPr id="21" name="Text 17"/>
          <p:cNvSpPr txBox="1"/>
          <p:nvPr/>
        </p:nvSpPr>
        <p:spPr>
          <a:xfrm>
            <a:off x="4591050" y="4305300"/>
            <a:ext cx="301625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E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*ngIf · *ngFor · ngClass</a:t>
            </a:r>
            <a:endParaRPr lang="en-US" sz="1200" dirty="0"/>
          </a:p>
        </p:txBody>
      </p:sp>
      <p:sp>
        <p:nvSpPr>
          <p:cNvPr id="22" name="Text 18"/>
          <p:cNvSpPr txBox="1"/>
          <p:nvPr/>
        </p:nvSpPr>
        <p:spPr>
          <a:xfrm>
            <a:off x="4591050" y="4889500"/>
            <a:ext cx="3016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D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in: [page / feature]</a:t>
            </a:r>
            <a:endParaRPr lang="en-US" sz="1300" dirty="0"/>
          </a:p>
        </p:txBody>
      </p:sp>
      <p:sp>
        <p:nvSpPr>
          <p:cNvPr id="23" name="Shape 19"/>
          <p:cNvSpPr/>
          <p:nvPr/>
        </p:nvSpPr>
        <p:spPr>
          <a:xfrm>
            <a:off x="7962900" y="3810000"/>
            <a:ext cx="3422650" cy="1460500"/>
          </a:xfrm>
          <a:prstGeom prst="roundRect">
            <a:avLst>
              <a:gd name="adj" fmla="val 5009"/>
            </a:avLst>
          </a:prstGeom>
          <a:solidFill>
            <a:srgbClr val="FFFFFF"/>
          </a:solidFill>
          <a:ln w="12700">
            <a:solidFill>
              <a:srgbClr val="DDE1EA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8166100" y="3987800"/>
            <a:ext cx="30162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Pipes</a:t>
            </a:r>
            <a:endParaRPr lang="en-US" sz="1500" dirty="0"/>
          </a:p>
        </p:txBody>
      </p:sp>
      <p:sp>
        <p:nvSpPr>
          <p:cNvPr id="25" name="Text 21"/>
          <p:cNvSpPr txBox="1"/>
          <p:nvPr/>
        </p:nvSpPr>
        <p:spPr>
          <a:xfrm>
            <a:off x="8166100" y="4305300"/>
            <a:ext cx="301625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E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 · currency · uppercase</a:t>
            </a:r>
            <a:endParaRPr lang="en-US" sz="1200" dirty="0"/>
          </a:p>
        </p:txBody>
      </p:sp>
      <p:sp>
        <p:nvSpPr>
          <p:cNvPr id="26" name="Text 22"/>
          <p:cNvSpPr txBox="1"/>
          <p:nvPr/>
        </p:nvSpPr>
        <p:spPr>
          <a:xfrm>
            <a:off x="8166100" y="4889500"/>
            <a:ext cx="3016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D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in: [page / feature]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0" y="0"/>
            <a:ext cx="1397000" cy="1397000"/>
          </a:xfrm>
          <a:prstGeom prst="rtTriangle">
            <a:avLst/>
          </a:prstGeom>
          <a:solidFill>
            <a:srgbClr val="8E0000"/>
          </a:solidFill>
          <a:ln/>
        </p:spPr>
      </p:sp>
      <p:sp>
        <p:nvSpPr>
          <p:cNvPr id="3" name="Shape 1"/>
          <p:cNvSpPr/>
          <p:nvPr/>
        </p:nvSpPr>
        <p:spPr>
          <a:xfrm flipV="1">
            <a:off x="0" y="0"/>
            <a:ext cx="825500" cy="825500"/>
          </a:xfrm>
          <a:prstGeom prst="rtTriangle">
            <a:avLst/>
          </a:prstGeom>
          <a:solidFill>
            <a:srgbClr val="002060"/>
          </a:solidFill>
          <a:ln/>
        </p:spPr>
      </p:sp>
      <p:sp>
        <p:nvSpPr>
          <p:cNvPr id="4" name="Shape 2"/>
          <p:cNvSpPr/>
          <p:nvPr/>
        </p:nvSpPr>
        <p:spPr>
          <a:xfrm flipH="1">
            <a:off x="10795000" y="5461000"/>
            <a:ext cx="1397000" cy="1397000"/>
          </a:xfrm>
          <a:prstGeom prst="rtTriangle">
            <a:avLst/>
          </a:prstGeom>
          <a:solidFill>
            <a:srgbClr val="002060"/>
          </a:solidFill>
          <a:ln/>
        </p:spPr>
      </p:sp>
      <p:sp>
        <p:nvSpPr>
          <p:cNvPr id="5" name="Shape 3"/>
          <p:cNvSpPr/>
          <p:nvPr/>
        </p:nvSpPr>
        <p:spPr>
          <a:xfrm flipH="1">
            <a:off x="11366500" y="6032500"/>
            <a:ext cx="825500" cy="825500"/>
          </a:xfrm>
          <a:prstGeom prst="rtTriangle">
            <a:avLst/>
          </a:prstGeom>
          <a:solidFill>
            <a:srgbClr val="8E0000"/>
          </a:solidFill>
          <a:ln/>
        </p:spPr>
      </p:sp>
      <p:sp>
        <p:nvSpPr>
          <p:cNvPr id="6" name="Shape 4"/>
          <p:cNvSpPr/>
          <p:nvPr/>
        </p:nvSpPr>
        <p:spPr>
          <a:xfrm>
            <a:off x="812800" y="889000"/>
            <a:ext cx="609600" cy="609600"/>
          </a:xfrm>
          <a:prstGeom prst="ellipse">
            <a:avLst/>
          </a:prstGeom>
          <a:solidFill>
            <a:srgbClr val="002060"/>
          </a:solidFill>
          <a:ln w="38100">
            <a:solidFill>
              <a:srgbClr val="8E000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5200" y="1041400"/>
            <a:ext cx="304800" cy="3048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00200" y="812800"/>
            <a:ext cx="8763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V · SERVICES, DI, LIFECYCLE HOOKS &amp; HTTP</a:t>
            </a:r>
            <a:endParaRPr lang="en-US" sz="1200" dirty="0"/>
          </a:p>
        </p:txBody>
      </p:sp>
      <p:sp>
        <p:nvSpPr>
          <p:cNvPr id="9" name="Text 2"/>
          <p:cNvSpPr/>
          <p:nvPr>
            <p:ph idx="103" type="title" hasCustomPrompt="1"/>
          </p:nvPr>
        </p:nvSpPr>
        <p:spPr>
          <a:xfrm>
            <a:off x="1600200" y="1016000"/>
            <a:ext cx="8763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20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Services &amp; HTTP Client</a:t>
            </a:r>
            <a:endParaRPr lang="en-US" sz="3200" dirty="0"/>
          </a:p>
        </p:txBody>
      </p:sp>
      <p:sp>
        <p:nvSpPr>
          <p:cNvPr id="11" name="Text 7"/>
          <p:cNvSpPr txBox="1"/>
          <p:nvPr/>
        </p:nvSpPr>
        <p:spPr>
          <a:xfrm>
            <a:off x="812800" y="1803400"/>
            <a:ext cx="508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our project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812800" y="2159000"/>
            <a:ext cx="5080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Service: [Name]Service – [what it handles]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Injected into: [component names]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hook ngOnInit() used to [load data on page open]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HttpClient calls: [GET / POST / PUT / DELETE – API URL]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6197600" y="1803400"/>
            <a:ext cx="5181600" cy="3302000"/>
          </a:xfrm>
          <a:prstGeom prst="roundRect">
            <a:avLst>
              <a:gd name="adj" fmla="val 2215"/>
            </a:avLst>
          </a:prstGeom>
          <a:solidFill>
            <a:srgbClr val="0F1C3F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6375400" y="1943100"/>
            <a:ext cx="4826000" cy="302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@Injectable({ providedIn: 'root' })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class [Name]Service {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constructor(private http: HttpClient) {}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getItems() {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return this.http.get('[API URL]');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}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FB0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in the component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ngOnInit() {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this.svc.getItems()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.subscribe(d =&gt; this.items = d);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6197600" y="5194300"/>
            <a:ext cx="51816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code – replace with your project's code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0" y="0"/>
            <a:ext cx="1397000" cy="1397000"/>
          </a:xfrm>
          <a:prstGeom prst="rtTriangle">
            <a:avLst/>
          </a:prstGeom>
          <a:solidFill>
            <a:srgbClr val="8E0000"/>
          </a:solidFill>
          <a:ln/>
        </p:spPr>
      </p:sp>
      <p:sp>
        <p:nvSpPr>
          <p:cNvPr id="3" name="Shape 1"/>
          <p:cNvSpPr/>
          <p:nvPr/>
        </p:nvSpPr>
        <p:spPr>
          <a:xfrm flipV="1">
            <a:off x="0" y="0"/>
            <a:ext cx="825500" cy="825500"/>
          </a:xfrm>
          <a:prstGeom prst="rtTriangle">
            <a:avLst/>
          </a:prstGeom>
          <a:solidFill>
            <a:srgbClr val="002060"/>
          </a:solidFill>
          <a:ln/>
        </p:spPr>
      </p:sp>
      <p:sp>
        <p:nvSpPr>
          <p:cNvPr id="4" name="Shape 2"/>
          <p:cNvSpPr/>
          <p:nvPr/>
        </p:nvSpPr>
        <p:spPr>
          <a:xfrm flipH="1">
            <a:off x="10795000" y="5461000"/>
            <a:ext cx="1397000" cy="1397000"/>
          </a:xfrm>
          <a:prstGeom prst="rtTriangle">
            <a:avLst/>
          </a:prstGeom>
          <a:solidFill>
            <a:srgbClr val="002060"/>
          </a:solidFill>
          <a:ln/>
        </p:spPr>
      </p:sp>
      <p:sp>
        <p:nvSpPr>
          <p:cNvPr id="5" name="Shape 3"/>
          <p:cNvSpPr/>
          <p:nvPr/>
        </p:nvSpPr>
        <p:spPr>
          <a:xfrm flipH="1">
            <a:off x="11366500" y="6032500"/>
            <a:ext cx="825500" cy="825500"/>
          </a:xfrm>
          <a:prstGeom prst="rtTriangle">
            <a:avLst/>
          </a:prstGeom>
          <a:solidFill>
            <a:srgbClr val="8E0000"/>
          </a:solidFill>
          <a:ln/>
        </p:spPr>
      </p:sp>
      <p:sp>
        <p:nvSpPr>
          <p:cNvPr id="6" name="Shape 4"/>
          <p:cNvSpPr/>
          <p:nvPr/>
        </p:nvSpPr>
        <p:spPr>
          <a:xfrm>
            <a:off x="812800" y="889000"/>
            <a:ext cx="609600" cy="609600"/>
          </a:xfrm>
          <a:prstGeom prst="ellipse">
            <a:avLst/>
          </a:prstGeom>
          <a:solidFill>
            <a:srgbClr val="002060"/>
          </a:solidFill>
          <a:ln w="38100">
            <a:solidFill>
              <a:srgbClr val="8E000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5200" y="1041400"/>
            <a:ext cx="304800" cy="3048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00200" y="812800"/>
            <a:ext cx="8763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V · FORMS, VALIDATION &amp; ROUTING</a:t>
            </a:r>
            <a:endParaRPr lang="en-US" sz="1200" dirty="0"/>
          </a:p>
        </p:txBody>
      </p:sp>
      <p:sp>
        <p:nvSpPr>
          <p:cNvPr id="9" name="Text 2"/>
          <p:cNvSpPr/>
          <p:nvPr>
            <p:ph idx="103" type="title" hasCustomPrompt="1"/>
          </p:nvPr>
        </p:nvSpPr>
        <p:spPr>
          <a:xfrm>
            <a:off x="1600200" y="1016000"/>
            <a:ext cx="8763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20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Forms &amp; Routing</a:t>
            </a:r>
            <a:endParaRPr lang="en-US" sz="3200" dirty="0"/>
          </a:p>
        </p:txBody>
      </p:sp>
      <p:sp>
        <p:nvSpPr>
          <p:cNvPr id="11" name="Shape 7"/>
          <p:cNvSpPr/>
          <p:nvPr/>
        </p:nvSpPr>
        <p:spPr>
          <a:xfrm>
            <a:off x="812800" y="1778000"/>
            <a:ext cx="5181600" cy="3683000"/>
          </a:xfrm>
          <a:prstGeom prst="roundRect">
            <a:avLst>
              <a:gd name="adj" fmla="val 1986"/>
            </a:avLst>
          </a:prstGeom>
          <a:solidFill>
            <a:srgbClr val="FFFFFF"/>
          </a:solidFill>
          <a:ln w="12700">
            <a:solidFill>
              <a:srgbClr val="DDE1EA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1041400" y="1955800"/>
            <a:ext cx="4724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 &amp; Validation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1041400" y="2286000"/>
            <a:ext cx="47244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3D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driven ([(ngModel)]) – used in [form name]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3D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(FormGroup) – used in [form name]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1041400" y="3048000"/>
            <a:ext cx="4724400" cy="1397000"/>
          </a:xfrm>
          <a:prstGeom prst="roundRect">
            <a:avLst>
              <a:gd name="adj" fmla="val 5236"/>
            </a:avLst>
          </a:prstGeom>
          <a:solidFill>
            <a:srgbClr val="0F1C3F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1219200" y="3187700"/>
            <a:ext cx="4368800" cy="111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 = new FormGroup({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email: new FormControl('',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[Validators.required])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1041400" y="4597400"/>
            <a:ext cx="4724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D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Validations: [required, email, minLength, ...]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6197600" y="1778000"/>
            <a:ext cx="5181600" cy="3683000"/>
          </a:xfrm>
          <a:prstGeom prst="roundRect">
            <a:avLst>
              <a:gd name="adj" fmla="val 1986"/>
            </a:avLst>
          </a:prstGeom>
          <a:solidFill>
            <a:srgbClr val="FFFFFF"/>
          </a:solidFill>
          <a:ln w="12700">
            <a:solidFill>
              <a:srgbClr val="DDE1EA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6426200" y="1955800"/>
            <a:ext cx="4724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&amp; Navigation</a:t>
            </a:r>
            <a:endParaRPr lang="en-US" sz="1600" dirty="0"/>
          </a:p>
        </p:txBody>
      </p:sp>
      <p:sp>
        <p:nvSpPr>
          <p:cNvPr id="19" name="Text 15"/>
          <p:cNvSpPr txBox="1"/>
          <p:nvPr/>
        </p:nvSpPr>
        <p:spPr>
          <a:xfrm>
            <a:off x="6426200" y="2286000"/>
            <a:ext cx="47244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3D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Routes: [/, /login, /dashboard, ...]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3D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routerLink in [navbar] · router-outlet in app component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6426200" y="3048000"/>
            <a:ext cx="4724400" cy="1397000"/>
          </a:xfrm>
          <a:prstGeom prst="roundRect">
            <a:avLst>
              <a:gd name="adj" fmla="val 5236"/>
            </a:avLst>
          </a:prstGeom>
          <a:solidFill>
            <a:srgbClr val="0F1C3F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6604000" y="3187700"/>
            <a:ext cx="4368800" cy="111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routes: Routes = [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{ path: '', component: Home },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{ path: '[path]', component: [Name] },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{ path: '**', component: NotFound }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0" y="0"/>
            <a:ext cx="1397000" cy="1397000"/>
          </a:xfrm>
          <a:prstGeom prst="rtTriangle">
            <a:avLst/>
          </a:prstGeom>
          <a:solidFill>
            <a:srgbClr val="8E0000"/>
          </a:solidFill>
          <a:ln/>
        </p:spPr>
      </p:sp>
      <p:sp>
        <p:nvSpPr>
          <p:cNvPr id="3" name="Shape 1"/>
          <p:cNvSpPr/>
          <p:nvPr/>
        </p:nvSpPr>
        <p:spPr>
          <a:xfrm flipV="1">
            <a:off x="0" y="0"/>
            <a:ext cx="825500" cy="825500"/>
          </a:xfrm>
          <a:prstGeom prst="rtTriangle">
            <a:avLst/>
          </a:prstGeom>
          <a:solidFill>
            <a:srgbClr val="002060"/>
          </a:solidFill>
          <a:ln/>
        </p:spPr>
      </p:sp>
      <p:sp>
        <p:nvSpPr>
          <p:cNvPr id="4" name="Shape 2"/>
          <p:cNvSpPr/>
          <p:nvPr/>
        </p:nvSpPr>
        <p:spPr>
          <a:xfrm flipH="1">
            <a:off x="10795000" y="5461000"/>
            <a:ext cx="1397000" cy="1397000"/>
          </a:xfrm>
          <a:prstGeom prst="rtTriangle">
            <a:avLst/>
          </a:prstGeom>
          <a:solidFill>
            <a:srgbClr val="002060"/>
          </a:solidFill>
          <a:ln/>
        </p:spPr>
      </p:sp>
      <p:sp>
        <p:nvSpPr>
          <p:cNvPr id="5" name="Shape 3"/>
          <p:cNvSpPr/>
          <p:nvPr/>
        </p:nvSpPr>
        <p:spPr>
          <a:xfrm flipH="1">
            <a:off x="11366500" y="6032500"/>
            <a:ext cx="825500" cy="825500"/>
          </a:xfrm>
          <a:prstGeom prst="rtTriangle">
            <a:avLst/>
          </a:prstGeom>
          <a:solidFill>
            <a:srgbClr val="8E0000"/>
          </a:solidFill>
          <a:ln/>
        </p:spPr>
      </p:sp>
      <p:sp>
        <p:nvSpPr>
          <p:cNvPr id="6" name="Shape 4"/>
          <p:cNvSpPr/>
          <p:nvPr/>
        </p:nvSpPr>
        <p:spPr>
          <a:xfrm>
            <a:off x="812800" y="889000"/>
            <a:ext cx="609600" cy="609600"/>
          </a:xfrm>
          <a:prstGeom prst="ellipse">
            <a:avLst/>
          </a:prstGeom>
          <a:solidFill>
            <a:srgbClr val="002060"/>
          </a:solidFill>
          <a:ln w="38100">
            <a:solidFill>
              <a:srgbClr val="8E000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5200" y="1041400"/>
            <a:ext cx="304800" cy="3048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00200" y="812800"/>
            <a:ext cx="8763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200" dirty="0"/>
          </a:p>
        </p:txBody>
      </p:sp>
      <p:sp>
        <p:nvSpPr>
          <p:cNvPr id="9" name="Text 2"/>
          <p:cNvSpPr/>
          <p:nvPr>
            <p:ph idx="103" type="title" hasCustomPrompt="1"/>
          </p:nvPr>
        </p:nvSpPr>
        <p:spPr>
          <a:xfrm>
            <a:off x="1600200" y="1016000"/>
            <a:ext cx="8763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20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 &amp; Results</a:t>
            </a:r>
            <a:endParaRPr lang="en-US" sz="3200" dirty="0"/>
          </a:p>
        </p:txBody>
      </p:sp>
      <p:sp>
        <p:nvSpPr>
          <p:cNvPr id="11" name="Shape 7"/>
          <p:cNvSpPr/>
          <p:nvPr/>
        </p:nvSpPr>
        <p:spPr>
          <a:xfrm>
            <a:off x="812800" y="1778000"/>
            <a:ext cx="3384550" cy="2794000"/>
          </a:xfrm>
          <a:prstGeom prst="roundRect">
            <a:avLst>
              <a:gd name="adj" fmla="val 1964"/>
            </a:avLst>
          </a:prstGeom>
          <a:solidFill>
            <a:srgbClr val="EEF0F6"/>
          </a:solidFill>
          <a:ln w="19050">
            <a:solidFill>
              <a:srgbClr val="8A93A8"/>
            </a:solidFill>
            <a:prstDash val="dash"/>
          </a:ln>
        </p:spPr>
      </p:sp>
      <p:sp>
        <p:nvSpPr>
          <p:cNvPr id="12" name="Text 8"/>
          <p:cNvSpPr txBox="1"/>
          <p:nvPr/>
        </p:nvSpPr>
        <p:spPr>
          <a:xfrm>
            <a:off x="812800" y="1778000"/>
            <a:ext cx="3384550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6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[Screenshot 1]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812800" y="4699000"/>
            <a:ext cx="3384550" cy="317500"/>
          </a:xfrm>
          <a:prstGeom prst="roundRect">
            <a:avLst>
              <a:gd name="adj" fmla="val 17280"/>
            </a:avLst>
          </a:prstGeom>
          <a:solidFill>
            <a:srgbClr val="002060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812800" y="4699000"/>
            <a:ext cx="338455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[e.g., Home page]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4400550" y="1778000"/>
            <a:ext cx="3384550" cy="2794000"/>
          </a:xfrm>
          <a:prstGeom prst="roundRect">
            <a:avLst>
              <a:gd name="adj" fmla="val 1964"/>
            </a:avLst>
          </a:prstGeom>
          <a:solidFill>
            <a:srgbClr val="EEF0F6"/>
          </a:solidFill>
          <a:ln w="19050">
            <a:solidFill>
              <a:srgbClr val="8A93A8"/>
            </a:solidFill>
            <a:prstDash val="dash"/>
          </a:ln>
        </p:spPr>
      </p:sp>
      <p:sp>
        <p:nvSpPr>
          <p:cNvPr id="16" name="Text 12"/>
          <p:cNvSpPr txBox="1"/>
          <p:nvPr/>
        </p:nvSpPr>
        <p:spPr>
          <a:xfrm>
            <a:off x="4400550" y="1778000"/>
            <a:ext cx="3384550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6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[Screenshot 2]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4400550" y="4699000"/>
            <a:ext cx="3384550" cy="317500"/>
          </a:xfrm>
          <a:prstGeom prst="roundRect">
            <a:avLst>
              <a:gd name="adj" fmla="val 17280"/>
            </a:avLst>
          </a:prstGeom>
          <a:solidFill>
            <a:srgbClr val="8E0000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4400550" y="4699000"/>
            <a:ext cx="338455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[e.g., Form with validation]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7988300" y="1778000"/>
            <a:ext cx="3390900" cy="3238500"/>
          </a:xfrm>
          <a:prstGeom prst="roundRect">
            <a:avLst>
              <a:gd name="adj" fmla="val 2259"/>
            </a:avLst>
          </a:prstGeom>
          <a:solidFill>
            <a:srgbClr val="002060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8216900" y="1981200"/>
            <a:ext cx="2921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C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600" dirty="0"/>
          </a:p>
        </p:txBody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6900" y="2425700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8547100" y="2413000"/>
            <a:ext cx="2654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[Feature achieved 1]</a:t>
            </a:r>
            <a:endParaRPr lang="en-US" sz="1400" dirty="0"/>
          </a:p>
        </p:txBody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6900" y="2984500"/>
            <a:ext cx="228600" cy="22860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8547100" y="2971800"/>
            <a:ext cx="2654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[Feature achieved 2]</a:t>
            </a:r>
            <a:endParaRPr lang="en-US" sz="1400" dirty="0"/>
          </a:p>
        </p:txBody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6900" y="3543300"/>
            <a:ext cx="228600" cy="22860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8547100" y="3530600"/>
            <a:ext cx="2654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[Feature achieved 3]</a:t>
            </a:r>
            <a:endParaRPr lang="en-US" sz="1400" dirty="0"/>
          </a:p>
        </p:txBody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16900" y="4102100"/>
            <a:ext cx="228600" cy="228600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8547100" y="4089400"/>
            <a:ext cx="2654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[Tested on: browsers / mobile]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0" y="0"/>
            <a:ext cx="1397000" cy="1397000"/>
          </a:xfrm>
          <a:prstGeom prst="rtTriangle">
            <a:avLst/>
          </a:prstGeom>
          <a:solidFill>
            <a:srgbClr val="8E0000"/>
          </a:solidFill>
          <a:ln/>
        </p:spPr>
      </p:sp>
      <p:sp>
        <p:nvSpPr>
          <p:cNvPr id="3" name="Shape 1"/>
          <p:cNvSpPr/>
          <p:nvPr/>
        </p:nvSpPr>
        <p:spPr>
          <a:xfrm flipV="1">
            <a:off x="0" y="0"/>
            <a:ext cx="825500" cy="825500"/>
          </a:xfrm>
          <a:prstGeom prst="rtTriangle">
            <a:avLst/>
          </a:prstGeom>
          <a:solidFill>
            <a:srgbClr val="002060"/>
          </a:solidFill>
          <a:ln/>
        </p:spPr>
      </p:sp>
      <p:sp>
        <p:nvSpPr>
          <p:cNvPr id="4" name="Shape 2"/>
          <p:cNvSpPr/>
          <p:nvPr/>
        </p:nvSpPr>
        <p:spPr>
          <a:xfrm flipH="1">
            <a:off x="10795000" y="5461000"/>
            <a:ext cx="1397000" cy="1397000"/>
          </a:xfrm>
          <a:prstGeom prst="rtTriangle">
            <a:avLst/>
          </a:prstGeom>
          <a:solidFill>
            <a:srgbClr val="002060"/>
          </a:solidFill>
          <a:ln/>
        </p:spPr>
      </p:sp>
      <p:sp>
        <p:nvSpPr>
          <p:cNvPr id="5" name="Shape 3"/>
          <p:cNvSpPr/>
          <p:nvPr/>
        </p:nvSpPr>
        <p:spPr>
          <a:xfrm flipH="1">
            <a:off x="11366500" y="6032500"/>
            <a:ext cx="825500" cy="825500"/>
          </a:xfrm>
          <a:prstGeom prst="rtTriangle">
            <a:avLst/>
          </a:prstGeom>
          <a:solidFill>
            <a:srgbClr val="8E0000"/>
          </a:solidFill>
          <a:ln/>
        </p:spPr>
      </p:sp>
      <p:sp>
        <p:nvSpPr>
          <p:cNvPr id="6" name="Shape 4"/>
          <p:cNvSpPr/>
          <p:nvPr/>
        </p:nvSpPr>
        <p:spPr>
          <a:xfrm>
            <a:off x="812800" y="889000"/>
            <a:ext cx="609600" cy="609600"/>
          </a:xfrm>
          <a:prstGeom prst="ellipse">
            <a:avLst/>
          </a:prstGeom>
          <a:solidFill>
            <a:srgbClr val="002060"/>
          </a:solidFill>
          <a:ln w="38100">
            <a:solidFill>
              <a:srgbClr val="8E000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5200" y="1041400"/>
            <a:ext cx="304800" cy="3048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00200" y="812800"/>
            <a:ext cx="8763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200" dirty="0"/>
          </a:p>
        </p:txBody>
      </p:sp>
      <p:sp>
        <p:nvSpPr>
          <p:cNvPr id="9" name="Text 2"/>
          <p:cNvSpPr/>
          <p:nvPr>
            <p:ph idx="103" type="title" hasCustomPrompt="1"/>
          </p:nvPr>
        </p:nvSpPr>
        <p:spPr>
          <a:xfrm>
            <a:off x="1600200" y="1016000"/>
            <a:ext cx="8763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20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Individual Contribution</a:t>
            </a:r>
            <a:endParaRPr lang="en-US" sz="3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1841500"/>
          <a:ext cx="10566400" cy="914400"/>
        </p:xfrm>
        <a:graphic>
          <a:graphicData uri="http://schemas.openxmlformats.org/drawingml/2006/table">
            <a:tbl>
              <a:tblPr/>
              <a:tblGrid>
                <a:gridCol w="2958592"/>
                <a:gridCol w="3803904"/>
                <a:gridCol w="3803904"/>
              </a:tblGrid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Modules built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 V concepts used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2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[Student Name 1]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2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[Module / pages]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2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[e.g., Components, Routing]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2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[Student Name 2]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2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[Module / pages]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2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[e.g., Services, HttpClient]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2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[Student Name 3]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2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[Module / pages]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2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[e.g., Reactive Forms]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2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[Student Name 4]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2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[Module / pages]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2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[e.g., Directives, Pipes]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0" y="0"/>
            <a:ext cx="1397000" cy="1397000"/>
          </a:xfrm>
          <a:prstGeom prst="rtTriangle">
            <a:avLst/>
          </a:prstGeom>
          <a:solidFill>
            <a:srgbClr val="8E0000"/>
          </a:solidFill>
          <a:ln/>
        </p:spPr>
      </p:sp>
      <p:sp>
        <p:nvSpPr>
          <p:cNvPr id="3" name="Shape 1"/>
          <p:cNvSpPr/>
          <p:nvPr/>
        </p:nvSpPr>
        <p:spPr>
          <a:xfrm flipV="1">
            <a:off x="0" y="0"/>
            <a:ext cx="825500" cy="825500"/>
          </a:xfrm>
          <a:prstGeom prst="rtTriangle">
            <a:avLst/>
          </a:prstGeom>
          <a:solidFill>
            <a:srgbClr val="002060"/>
          </a:solidFill>
          <a:ln/>
        </p:spPr>
      </p:sp>
      <p:sp>
        <p:nvSpPr>
          <p:cNvPr id="4" name="Shape 2"/>
          <p:cNvSpPr/>
          <p:nvPr/>
        </p:nvSpPr>
        <p:spPr>
          <a:xfrm flipH="1">
            <a:off x="10795000" y="5461000"/>
            <a:ext cx="1397000" cy="1397000"/>
          </a:xfrm>
          <a:prstGeom prst="rtTriangle">
            <a:avLst/>
          </a:prstGeom>
          <a:solidFill>
            <a:srgbClr val="002060"/>
          </a:solidFill>
          <a:ln/>
        </p:spPr>
      </p:sp>
      <p:sp>
        <p:nvSpPr>
          <p:cNvPr id="5" name="Shape 3"/>
          <p:cNvSpPr/>
          <p:nvPr/>
        </p:nvSpPr>
        <p:spPr>
          <a:xfrm flipH="1">
            <a:off x="11366500" y="6032500"/>
            <a:ext cx="825500" cy="825500"/>
          </a:xfrm>
          <a:prstGeom prst="rtTriangle">
            <a:avLst/>
          </a:prstGeom>
          <a:solidFill>
            <a:srgbClr val="8E0000"/>
          </a:solidFill>
          <a:ln/>
        </p:spPr>
      </p:sp>
      <p:sp>
        <p:nvSpPr>
          <p:cNvPr id="6" name="Shape 4"/>
          <p:cNvSpPr/>
          <p:nvPr/>
        </p:nvSpPr>
        <p:spPr>
          <a:xfrm>
            <a:off x="812800" y="889000"/>
            <a:ext cx="609600" cy="609600"/>
          </a:xfrm>
          <a:prstGeom prst="ellipse">
            <a:avLst/>
          </a:prstGeom>
          <a:solidFill>
            <a:srgbClr val="002060"/>
          </a:solidFill>
          <a:ln w="38100">
            <a:solidFill>
              <a:srgbClr val="8E000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5200" y="1041400"/>
            <a:ext cx="304800" cy="3048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00200" y="812800"/>
            <a:ext cx="8763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200" dirty="0"/>
          </a:p>
        </p:txBody>
      </p:sp>
      <p:sp>
        <p:nvSpPr>
          <p:cNvPr id="9" name="Text 2"/>
          <p:cNvSpPr/>
          <p:nvPr>
            <p:ph idx="103" type="title" hasCustomPrompt="1"/>
          </p:nvPr>
        </p:nvSpPr>
        <p:spPr>
          <a:xfrm>
            <a:off x="1600200" y="1016000"/>
            <a:ext cx="8763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20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Future Scope</a:t>
            </a:r>
            <a:endParaRPr lang="en-US" sz="3200" dirty="0"/>
          </a:p>
        </p:txBody>
      </p:sp>
      <p:sp>
        <p:nvSpPr>
          <p:cNvPr id="11" name="Shape 7"/>
          <p:cNvSpPr/>
          <p:nvPr/>
        </p:nvSpPr>
        <p:spPr>
          <a:xfrm>
            <a:off x="812800" y="1778000"/>
            <a:ext cx="518160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DE1EA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1066800" y="1981200"/>
            <a:ext cx="4673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1066800" y="2311400"/>
            <a:ext cx="46736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D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[2–3 lines on what the project achieved and which Angular concepts the team applied.]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6197600" y="1778000"/>
            <a:ext cx="518160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DE1EA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6451600" y="1981200"/>
            <a:ext cx="4673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8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6451600" y="2311400"/>
            <a:ext cx="46736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[e.g., Authentication with route guards]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[Enhancement 2]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[Enhancement 3]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812800" y="4292600"/>
            <a:ext cx="10566400" cy="1206500"/>
          </a:xfrm>
          <a:prstGeom prst="roundRect">
            <a:avLst>
              <a:gd name="adj" fmla="val 6063"/>
            </a:avLst>
          </a:prstGeom>
          <a:solidFill>
            <a:srgbClr val="EEF0F6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1041400" y="4445000"/>
            <a:ext cx="100965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200" dirty="0"/>
          </a:p>
        </p:txBody>
      </p:sp>
      <p:sp>
        <p:nvSpPr>
          <p:cNvPr id="19" name="Text 15"/>
          <p:cNvSpPr txBox="1"/>
          <p:nvPr/>
        </p:nvSpPr>
        <p:spPr>
          <a:xfrm>
            <a:off x="1041400" y="4686300"/>
            <a:ext cx="10096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3D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Angular Documentation – angular.dev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3D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TypeScript Documentation – typescriptlang.org      3. MDN Web Docs – developer.mozilla.org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3D4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[Textbook / other sources used]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0" y="0"/>
            <a:ext cx="1397000" cy="1397000"/>
          </a:xfrm>
          <a:prstGeom prst="rtTriangle">
            <a:avLst/>
          </a:prstGeom>
          <a:solidFill>
            <a:srgbClr val="8E0000"/>
          </a:solidFill>
          <a:ln/>
        </p:spPr>
      </p:sp>
      <p:sp>
        <p:nvSpPr>
          <p:cNvPr id="3" name="Shape 1"/>
          <p:cNvSpPr/>
          <p:nvPr/>
        </p:nvSpPr>
        <p:spPr>
          <a:xfrm flipV="1">
            <a:off x="0" y="0"/>
            <a:ext cx="825500" cy="825500"/>
          </a:xfrm>
          <a:prstGeom prst="rtTriangle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 flipH="1">
            <a:off x="10795000" y="5461000"/>
            <a:ext cx="1397000" cy="1397000"/>
          </a:xfrm>
          <a:prstGeom prst="rtTriangle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 flipH="1">
            <a:off x="11366500" y="6032500"/>
            <a:ext cx="825500" cy="825500"/>
          </a:xfrm>
          <a:prstGeom prst="rtTriangle">
            <a:avLst/>
          </a:prstGeom>
          <a:solidFill>
            <a:srgbClr val="8E0000"/>
          </a:solidFill>
          <a:ln/>
        </p:spPr>
      </p:sp>
      <p:sp>
        <p:nvSpPr>
          <p:cNvPr id="6" name="Shape 4"/>
          <p:cNvSpPr/>
          <p:nvPr/>
        </p:nvSpPr>
        <p:spPr>
          <a:xfrm>
            <a:off x="4724400" y="1397000"/>
            <a:ext cx="2743200" cy="952500"/>
          </a:xfrm>
          <a:prstGeom prst="roundRect">
            <a:avLst>
              <a:gd name="adj" fmla="val 9600"/>
            </a:avLst>
          </a:prstGeom>
          <a:solidFill>
            <a:srgbClr val="FAFAFC"/>
          </a:solidFill>
          <a:ln/>
        </p:spPr>
      </p:sp>
      <p:pic>
        <p:nvPicPr>
          <p:cNvPr id="7" name="Image 0" descr="Anurag University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53000" y="1536700"/>
            <a:ext cx="2286000" cy="6731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12800" y="2667000"/>
            <a:ext cx="105664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9" name="Text 6"/>
          <p:cNvSpPr txBox="1"/>
          <p:nvPr/>
        </p:nvSpPr>
        <p:spPr>
          <a:xfrm>
            <a:off x="812800" y="3810000"/>
            <a:ext cx="105664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812800" y="4292600"/>
            <a:ext cx="10566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[No.] · [Project Title]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nurag University EWP">
  <a:themeElements>
    <a:clrScheme name="Anurag University EWP">
      <a:dk1>
        <a:srgbClr val="1B1F2E"/>
      </a:dk1>
      <a:lt1>
        <a:srgbClr val="FFFFFF"/>
      </a:lt1>
      <a:dk2>
        <a:srgbClr val="002060"/>
      </a:dk2>
      <a:lt2>
        <a:srgbClr val="FAFAFC"/>
      </a:lt2>
      <a:accent1>
        <a:srgbClr val="002060"/>
      </a:accent1>
      <a:accent2>
        <a:srgbClr val="8E0000"/>
      </a:accent2>
      <a:accent3>
        <a:srgbClr val="3D4458"/>
      </a:accent3>
      <a:accent4>
        <a:srgbClr val="5A6175"/>
      </a:accent4>
      <a:accent5>
        <a:srgbClr val="8A93A8"/>
      </a:accent5>
      <a:accent6>
        <a:srgbClr val="0F1C3F"/>
      </a:accent6>
      <a:hlink>
        <a:srgbClr val="002060"/>
      </a:hlink>
      <a:folHlink>
        <a:srgbClr val="8E0000"/>
      </a:folHlink>
    </a:clrScheme>
    <a:fontScheme name="Anurag University EWP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EWP Project PPT Template – Unit V Angular</dc:title>
  <dc:subject>PptxGenJS Presentation</dc:subject>
  <dc:creator>Dept. of AI &amp; ML, Anurag University</dc:creator>
  <cp:lastModifiedBy>Dept. of AI &amp; ML, Anurag University</cp:lastModifiedBy>
  <cp:revision>1</cp:revision>
  <dcterms:created xsi:type="dcterms:W3CDTF">2026-10-12T05:37:35Z</dcterms:created>
  <dcterms:modified xsi:type="dcterms:W3CDTF">2026-10-12T05:37:35Z</dcterms:modified>
</cp:coreProperties>
</file>