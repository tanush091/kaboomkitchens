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8" r:id="rId19"/>
    <p:sldId id="269" r:id="rId20"/>
    <p:sldId id="270" r:id="rId21"/>
    <p:sldId id="271" r:id="rId22"/>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d6a5e0-8882-d801-fa60-70b5a69c83c4}">
          <p14:sldIdLst>
            <p14:sldId id="256"/>
            <p14:sldId id="257"/>
            <p14:sldId id="258"/>
          </p14:sldIdLst>
        </p14:section>
        <p14:section name="System Design" id="{077343aa-e9c1-0a12-8182-44ceccfd430b}">
          <p14:sldIdLst>
            <p14:sldId id="259"/>
          </p14:sldIdLst>
        </p14:section>
        <p14:section name="Unit V – Angular" id="{96a69d08-a39a-497f-1876-3b4a32662275}">
          <p14:sldIdLst>
            <p14:sldId id="260"/>
            <p14:sldId id="261"/>
            <p14:sldId id="262"/>
            <p14:sldId id="263"/>
          </p14:sldIdLst>
        </p14:section>
        <p14:section name="Output &amp; Team" id="{5d20e017-6159-b54a-7da7-3add2acd06bb}">
          <p14:sldIdLst>
            <p14:sldId id="264"/>
            <p14:sldId id="265"/>
          </p14:sldIdLst>
        </p14:section>
        <p14:section name="Wrap-up" id="{25e75efc-a9c5-5dbf-d437-f7df8d93cdd1}">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Kaboom's Kitchen, a restaurant website built over the 14-week EWP lab, with an AngularJS single-page app for Unit V. Fill in the roll numbers, names, faculty and team number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phone-only bookings. The solution is one website where customers see the menu and book a table themselves, with every input checked before it is saved.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goals, one per tab of the app. The proposed system replaces phone bookings with a page that never reloads and catches bad input before it is saved.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click in the browser reaches RestaurantController, which reads and writes data through the injected BookingService. The lab pages for Weeks 8-10 load data with the Fetch API from JSON and XML files and post bookings to a public test API. Styling is our own style.css; there is no router module, the tabs are switched with ng-show.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Angular page uses AngularJS 1.8, so a few Unit V items appear in their AngularJS form: a controller and view instead of an @Component, filters instead of pipes, and tab switching instead of the Router. Rows marked 'Not used' or 'No ...' are honest gaps; be ready to explain the Angular 2+ equivalent in the viva.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ng-app starts the kaboomApp module and ng-controller attaches RestaurantController to the page. Typing in the search box updates $scope through ng-model and ng-repeat re-filters the menu instantly. The date filter formats the booking preview. In Angular 2+ these become an @Component, *ngFor and pipes.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Keeping the reservations in a service means any controller can share them. Angular injects BookingService into the controller just by naming it as a parameter. The Angular page keeps data in memory; real HTTP calls are made with the Fetch API on the Week 8-10 pages.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leave the name empty to show 'Name is required!' and the disabled Confirm button, then fill the form and watch the preview. Submitting saves the booking and switches to the Reservations tab without reloading the page.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screen was tested in Chrome on desktop and phone widths: 47 of 49 automated checks pass. Known issue: a booking for 20 Oct is stored as 19 Oct because toISOString() converts to UTC; the fix is on the conclusion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split is a suggestion; change it to match who actually built each part. Each member should be ready to answer viva questions on their own Angular concepts.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built a working restaurant site and an AngularJS single-page app. The natural next step is moving to Angular 2+ with the CLI, a real backend, and fixing the timezone bug (format the date with $filter('date') instead of toISOString()).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syllabus lives in one website. Week 7 was the review and Skill Test 1, so it has no page of its own. The next three slides show Weeks 1-11; after that we focus on Unit V, Angular.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Weeks 1-2: semantic HTML pages and a registration form checked by HTML5 attributes (required, type=email, pattern, minlength). Week 3: inline, internal and external CSS. Week 4: script.js adds five JavaScript checks, including password match, which HTML5 cannot do. Week 5: the menu catalogue and booking 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6: menu.xml holds six items and menu.dtd sets the rules; a validator rejected copies with a missing price or a duplicate id. Weeks 8-10: fetch() loads restaurant_info.txt, menu_data.json and menu.xml without reloading the page, and booking_post.html sends a JSON booking with POST and gets 201 Created 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TypeScript adds types that are checked at compile time. The interface describes a menu item, the class keeps its items private and exposes typed methods, and tsc compiles it to plain JavaScript (menu.js) that the demo page runs.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AFC"/>
        </a:solidFill>
      </p:bgPr>
    </p:bg>
    <p:spTree>
      <p:nvGrpSpPr>
        <p:cNvPr id="1" name=""/>
        <p:cNvGrpSpPr/>
        <p:nvPr/>
      </p:nvGrpSpPr>
      <p:grpSpPr>
        <a:xfrm>
          <a:off x="0" y="0"/>
          <a:ext cx="0" cy="0"/>
          <a:chOff x="0" y="0"/>
          <a:chExt cx="0" cy="0"/>
        </a:xfrm>
      </p:grpSpPr>
      <p:pic>
        <p:nvPicPr>
          <p:cNvPr id="2" name="Image 0" descr="Anurag University logo">    </p:cNvPr>
          <p:cNvPicPr>
            <a:picLocks noChangeAspect="1"/>
          </p:cNvPicPr>
          <p:nvPr/>
        </p:nvPicPr>
        <p:blipFill>
          <a:blip r:embed="rId1"/>
          <a:stretch>
            <a:fillRect/>
          </a:stretch>
        </p:blipFill>
        <p:spPr>
          <a:xfrm>
            <a:off x="10642600" y="152400"/>
            <a:ext cx="1397000" cy="412750"/>
          </a:xfrm>
          <a:prstGeom prst="rect">
            <a:avLst/>
          </a:prstGeom>
        </p:spPr>
      </p:pic>
      <p:sp>
        <p:nvSpPr>
          <p:cNvPr id="3" name="Text 0"/>
          <p:cNvSpPr/>
          <p:nvPr/>
        </p:nvSpPr>
        <p:spPr>
          <a:xfrm>
            <a:off x="812800" y="6197600"/>
            <a:ext cx="5715000" cy="254000"/>
          </a:xfrm>
          <a:prstGeom prst="rect">
            <a:avLst/>
          </a:prstGeom>
          <a:noFill/>
          <a:ln/>
        </p:spPr>
        <p:txBody>
          <a:bodyPr wrap="square" lIns="0" tIns="0" rIns="0" bIns="0" rtlCol="0" anchor="ctr"/>
          <a:lstStyle/>
          <a:p>
            <a:pPr indent="0" marL="0">
              <a:buNone/>
            </a:pPr>
            <a:r>
              <a:rPr lang="en-US" sz="1200" b="1" spc="100" kern="0" dirty="0">
                <a:solidFill>
                  <a:srgbClr val="002060"/>
                </a:solidFill>
                <a:latin typeface="Calibri" pitchFamily="34" charset="0"/>
                <a:ea typeface="Calibri" pitchFamily="34" charset="-122"/>
                <a:cs typeface="Calibri" pitchFamily="34" charset="-120"/>
              </a:rPr>
              <a:t>DEPARTMENT OF AI &amp; ML • ANURAG UNIVERSITY</a:t>
            </a:r>
            <a:endParaRPr lang="en-US" sz="1200" dirty="0"/>
          </a:p>
        </p:txBody>
      </p:sp>
      <p:sp>
        <p:nvSpPr>
          <p:cNvPr id="4" name="Text 1"/>
          <p:cNvSpPr/>
          <p:nvPr/>
        </p:nvSpPr>
        <p:spPr>
          <a:xfrm>
            <a:off x="6350000" y="6197600"/>
            <a:ext cx="4064000" cy="254000"/>
          </a:xfrm>
          <a:prstGeom prst="rect">
            <a:avLst/>
          </a:prstGeom>
          <a:noFill/>
          <a:ln/>
        </p:spPr>
        <p:txBody>
          <a:bodyPr wrap="square" lIns="0" tIns="0" rIns="0" bIns="0" rtlCol="0" anchor="ctr"/>
          <a:lstStyle/>
          <a:p>
            <a:pPr algn="r" indent="0" marL="0">
              <a:buNone/>
            </a:pPr>
            <a:r>
              <a:rPr lang="en-US" sz="1200" dirty="0">
                <a:solidFill>
                  <a:srgbClr val="5A6175"/>
                </a:solidFill>
                <a:latin typeface="Calibri" pitchFamily="34" charset="0"/>
                <a:ea typeface="Calibri" pitchFamily="34" charset="-122"/>
                <a:cs typeface="Calibri" pitchFamily="34" charset="-120"/>
              </a:rPr>
              <a:t>EWP · Team [No.] · Kaboom's Kitchen</a:t>
            </a:r>
            <a:endParaRPr lang="en-US" sz="1200" dirty="0"/>
          </a:p>
        </p:txBody>
      </p:sp>
      <p:sp>
        <p:nvSpPr>
          <p:cNvPr id="5" name="Text 2"/>
          <p:cNvSpPr/>
          <p:nvPr>
            <p:ph idx="103" type="title" hasCustomPrompt="1"/>
          </p:nvPr>
        </p:nvSpPr>
        <p:spPr>
          <a:xfrm>
            <a:off x="1600200" y="1016000"/>
            <a:ext cx="8763000" cy="482600"/>
          </a:xfrm>
          <a:prstGeom prst="rect">
            <a:avLst/>
          </a:prstGeom>
          <a:noFill/>
          <a:ln/>
        </p:spPr>
        <p:txBody>
          <a:bodyPr wrap="square" rtlCol="0"/>
          <a:lstStyle>
            <a:lvl1pPr algn="l" indent="0" marL="0">
              <a:buNone/>
              <a:defRPr lang="en-US" sz="3200" b="1" dirty="0">
                <a:solidFill>
                  <a:srgbClr val="002060"/>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AFAFC"/>
        </a:solidFill>
      </p:bgPr>
    </p:bg>
    <p:spTree>
      <p:nvGrpSpPr>
        <p:cNvPr id="1" name=""/>
        <p:cNvGrpSpPr/>
        <p:nvPr/>
      </p:nvGrpSpPr>
      <p:grpSpPr>
        <a:xfrm>
          <a:off x="0" y="0"/>
          <a:ext cx="0" cy="0"/>
          <a:chOff x="0" y="0"/>
          <a:chExt cx="0" cy="0"/>
        </a:xfrm>
      </p:grpSpPr>
      <p:pic>
        <p:nvPicPr>
          <p:cNvPr id="2" name="Image 0" descr="Anurag University logo">    </p:cNvPr>
          <p:cNvPicPr>
            <a:picLocks noChangeAspect="1"/>
          </p:cNvPicPr>
          <p:nvPr/>
        </p:nvPicPr>
        <p:blipFill>
          <a:blip r:embed="rId1"/>
          <a:stretch>
            <a:fillRect/>
          </a:stretch>
        </p:blipFill>
        <p:spPr>
          <a:xfrm>
            <a:off x="10642600" y="152400"/>
            <a:ext cx="1397000" cy="4127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0206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6.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image" Target="../media/image1.png"/><Relationship Id="rId8" Type="http://schemas.openxmlformats.org/officeDocument/2006/relationships/image" Target="../media/image2.png"/><Relationship Id="rId9"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 Id="rId8" Type="http://schemas.openxmlformats.org/officeDocument/2006/relationships/image" Target="../media/image5.png"/><Relationship Id="rId9"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12800"/>
            <a:ext cx="38100" cy="609600"/>
          </a:xfrm>
          <a:prstGeom prst="rect">
            <a:avLst/>
          </a:prstGeom>
          <a:solidFill>
            <a:srgbClr val="8E0000"/>
          </a:solidFill>
          <a:ln/>
        </p:spPr>
      </p:sp>
      <p:sp>
        <p:nvSpPr>
          <p:cNvPr id="7" name="Text 5"/>
          <p:cNvSpPr txBox="1"/>
          <p:nvPr/>
        </p:nvSpPr>
        <p:spPr>
          <a:xfrm>
            <a:off x="1016000" y="812800"/>
            <a:ext cx="6985000" cy="609600"/>
          </a:xfrm>
          <a:prstGeom prst="rect">
            <a:avLst/>
          </a:prstGeom>
          <a:noFill/>
          <a:ln/>
        </p:spPr>
        <p:txBody>
          <a:bodyPr wrap="square" lIns="0" tIns="0" rIns="0" bIns="0" rtlCol="0" anchor="ctr"/>
          <a:lstStyle/>
          <a:p>
            <a:pPr indent="0" marL="0">
              <a:buNone/>
            </a:pPr>
            <a:r>
              <a:rPr lang="en-US" sz="1600" b="1" dirty="0">
                <a:solidFill>
                  <a:srgbClr val="002060"/>
                </a:solidFill>
                <a:latin typeface="Calibri" pitchFamily="34" charset="0"/>
                <a:ea typeface="Calibri" pitchFamily="34" charset="-122"/>
                <a:cs typeface="Calibri" pitchFamily="34" charset="-120"/>
              </a:rPr>
              <a:t>Department of Artificial Intelligence</a:t>
            </a:r>
            <a:endParaRPr lang="en-US" sz="1600" dirty="0"/>
          </a:p>
          <a:p>
            <a:pPr indent="0" marL="0">
              <a:buNone/>
            </a:pPr>
            <a:r>
              <a:rPr lang="en-US" sz="1600" b="1" dirty="0">
                <a:solidFill>
                  <a:srgbClr val="002060"/>
                </a:solidFill>
                <a:latin typeface="Calibri" pitchFamily="34" charset="0"/>
                <a:ea typeface="Calibri" pitchFamily="34" charset="-122"/>
                <a:cs typeface="Calibri" pitchFamily="34" charset="-120"/>
              </a:rPr>
              <a:t>&amp; Machine Learning</a:t>
            </a:r>
            <a:endParaRPr lang="en-US" sz="1600" dirty="0"/>
          </a:p>
        </p:txBody>
      </p:sp>
      <p:sp>
        <p:nvSpPr>
          <p:cNvPr id="8" name="Text 6"/>
          <p:cNvSpPr txBox="1"/>
          <p:nvPr/>
        </p:nvSpPr>
        <p:spPr>
          <a:xfrm>
            <a:off x="812800" y="2159000"/>
            <a:ext cx="9525000" cy="254000"/>
          </a:xfrm>
          <a:prstGeom prst="rect">
            <a:avLst/>
          </a:prstGeom>
          <a:noFill/>
          <a:ln/>
        </p:spPr>
        <p:txBody>
          <a:bodyPr wrap="square" lIns="0" tIns="0" rIns="0" bIns="0" rtlCol="0" anchor="t"/>
          <a:lstStyle/>
          <a:p>
            <a:pPr indent="0" marL="0">
              <a:buNone/>
            </a:pPr>
            <a:r>
              <a:rPr lang="en-US" sz="1400" b="1" spc="300" kern="0" dirty="0">
                <a:solidFill>
                  <a:srgbClr val="8E0000"/>
                </a:solidFill>
                <a:latin typeface="Calibri" pitchFamily="34" charset="0"/>
                <a:ea typeface="Calibri" pitchFamily="34" charset="-122"/>
                <a:cs typeface="Calibri" pitchFamily="34" charset="-120"/>
              </a:rPr>
              <a:t>ESSENTIALS OF WEB PROGRAMMING (EWP) · PROJECT PRESENTATION</a:t>
            </a:r>
            <a:endParaRPr lang="en-US" sz="1400" dirty="0"/>
          </a:p>
        </p:txBody>
      </p:sp>
      <p:sp>
        <p:nvSpPr>
          <p:cNvPr id="9" name="Text 7"/>
          <p:cNvSpPr/>
          <p:nvPr/>
        </p:nvSpPr>
        <p:spPr>
          <a:xfrm>
            <a:off x="812800" y="2476500"/>
            <a:ext cx="9525000" cy="762000"/>
          </a:xfrm>
          <a:prstGeom prst="rect">
            <a:avLst/>
          </a:prstGeom>
          <a:noFill/>
          <a:ln/>
        </p:spPr>
        <p:txBody>
          <a:bodyPr wrap="square" lIns="0" tIns="0" rIns="0" bIns="0" rtlCol="0" anchor="ctr"/>
          <a:lstStyle/>
          <a:p>
            <a:pPr indent="0" marL="0">
              <a:buNone/>
            </a:pPr>
            <a:r>
              <a:rPr lang="en-US" sz="4400" b="1" dirty="0">
                <a:solidFill>
                  <a:srgbClr val="002060"/>
                </a:solidFill>
                <a:latin typeface="Cambria" pitchFamily="34" charset="0"/>
                <a:ea typeface="Cambria" pitchFamily="34" charset="-122"/>
                <a:cs typeface="Cambria" pitchFamily="34" charset="-120"/>
              </a:rPr>
              <a:t>Kaboom's Kitchen</a:t>
            </a:r>
            <a:endParaRPr lang="en-US" sz="4400" dirty="0"/>
          </a:p>
        </p:txBody>
      </p:sp>
      <p:sp>
        <p:nvSpPr>
          <p:cNvPr id="10" name="Shape 8"/>
          <p:cNvSpPr/>
          <p:nvPr/>
        </p:nvSpPr>
        <p:spPr>
          <a:xfrm>
            <a:off x="812800" y="3365500"/>
            <a:ext cx="2730500" cy="355600"/>
          </a:xfrm>
          <a:prstGeom prst="roundRect">
            <a:avLst>
              <a:gd name="adj" fmla="val 48857"/>
            </a:avLst>
          </a:prstGeom>
          <a:solidFill>
            <a:srgbClr val="002060"/>
          </a:solidFill>
          <a:ln/>
        </p:spPr>
      </p:sp>
      <p:sp>
        <p:nvSpPr>
          <p:cNvPr id="11" name="Text 9"/>
          <p:cNvSpPr txBox="1"/>
          <p:nvPr/>
        </p:nvSpPr>
        <p:spPr>
          <a:xfrm>
            <a:off x="812800" y="3365500"/>
            <a:ext cx="2730500" cy="355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Mapped to Unit V – Angular</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12800" y="4140200"/>
          <a:ext cx="6223000" cy="914400"/>
        </p:xfrm>
        <a:graphic>
          <a:graphicData uri="http://schemas.openxmlformats.org/drawingml/2006/table">
            <a:tbl>
              <a:tblPr/>
              <a:tblGrid>
                <a:gridCol w="1991360"/>
                <a:gridCol w="4231640"/>
              </a:tblGrid>
              <a:tr h="3683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Roll No.</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Team [No.] Members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r>
              <a:tr h="3683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[Roll No.]</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[Student Name 1]</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3683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[Roll No.]</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[Student Name 2]</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3683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[Roll No.]</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[Student Name 3]</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3683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[Roll No.]</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[Student Name 4]</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bl>
          </a:graphicData>
        </a:graphic>
      </p:graphicFrame>
      <p:sp>
        <p:nvSpPr>
          <p:cNvPr id="13" name="Text 10"/>
          <p:cNvSpPr txBox="1"/>
          <p:nvPr/>
        </p:nvSpPr>
        <p:spPr>
          <a:xfrm>
            <a:off x="7493000" y="4889500"/>
            <a:ext cx="3175000" cy="215900"/>
          </a:xfrm>
          <a:prstGeom prst="rect">
            <a:avLst/>
          </a:prstGeom>
          <a:noFill/>
          <a:ln/>
        </p:spPr>
        <p:txBody>
          <a:bodyPr wrap="square" lIns="0" tIns="0" rIns="0" bIns="0" rtlCol="0" anchor="t"/>
          <a:lstStyle/>
          <a:p>
            <a:pPr indent="0" marL="0">
              <a:buNone/>
            </a:pPr>
            <a:r>
              <a:rPr lang="en-US" sz="1200" b="1" spc="200" kern="0" dirty="0">
                <a:solidFill>
                  <a:srgbClr val="8E0000"/>
                </a:solidFill>
                <a:latin typeface="Calibri" pitchFamily="34" charset="0"/>
                <a:ea typeface="Calibri" pitchFamily="34" charset="-122"/>
                <a:cs typeface="Calibri" pitchFamily="34" charset="-120"/>
              </a:rPr>
              <a:t>UNDER THE GUIDANCE OF</a:t>
            </a:r>
            <a:endParaRPr lang="en-US" sz="1200" dirty="0"/>
          </a:p>
        </p:txBody>
      </p:sp>
      <p:sp>
        <p:nvSpPr>
          <p:cNvPr id="14" name="Text 11"/>
          <p:cNvSpPr txBox="1"/>
          <p:nvPr/>
        </p:nvSpPr>
        <p:spPr>
          <a:xfrm>
            <a:off x="7493000" y="5130800"/>
            <a:ext cx="3175000" cy="2794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[Faculty Name]</a:t>
            </a:r>
            <a:endParaRPr lang="en-US" sz="1600" dirty="0"/>
          </a:p>
        </p:txBody>
      </p:sp>
      <p:sp>
        <p:nvSpPr>
          <p:cNvPr id="15" name="Text 12"/>
          <p:cNvSpPr txBox="1"/>
          <p:nvPr/>
        </p:nvSpPr>
        <p:spPr>
          <a:xfrm>
            <a:off x="7493000" y="5435600"/>
            <a:ext cx="3175000" cy="215900"/>
          </a:xfrm>
          <a:prstGeom prst="rect">
            <a:avLst/>
          </a:prstGeom>
          <a:noFill/>
          <a:ln/>
        </p:spPr>
        <p:txBody>
          <a:bodyPr wrap="square" lIns="0" tIns="0" rIns="0" bIns="0" rtlCol="0" anchor="t"/>
          <a:lstStyle/>
          <a:p>
            <a:pPr indent="0" marL="0">
              <a:buNone/>
            </a:pPr>
            <a:r>
              <a:rPr lang="en-US" sz="1200" dirty="0">
                <a:solidFill>
                  <a:srgbClr val="3D4458"/>
                </a:solidFill>
                <a:latin typeface="Calibri" pitchFamily="34" charset="0"/>
                <a:ea typeface="Calibri" pitchFamily="34" charset="-122"/>
                <a:cs typeface="Calibri" pitchFamily="34" charset="-120"/>
              </a:rPr>
              <a:t>[Designation], Dept. of AI &amp; ML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INTRODUCTION</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Abstract &amp; Problem Statement</a:t>
            </a:r>
            <a:endParaRPr lang="en-US" sz="3200" dirty="0"/>
          </a:p>
        </p:txBody>
      </p:sp>
      <p:sp>
        <p:nvSpPr>
          <p:cNvPr id="11" name="Text 7"/>
          <p:cNvSpPr txBox="1"/>
          <p:nvPr/>
        </p:nvSpPr>
        <p:spPr>
          <a:xfrm>
            <a:off x="812800" y="1803400"/>
            <a:ext cx="10566400" cy="254000"/>
          </a:xfrm>
          <a:prstGeom prst="rect">
            <a:avLst/>
          </a:prstGeom>
          <a:noFill/>
          <a:ln/>
        </p:spPr>
        <p:txBody>
          <a:bodyPr wrap="square" lIns="0" tIns="0" rIns="0" bIns="0" rtlCol="0" anchor="t"/>
          <a:lstStyle/>
          <a:p>
            <a:pPr indent="0" marL="0">
              <a:buNone/>
            </a:pPr>
            <a:r>
              <a:rPr lang="en-US" sz="1600" b="1" dirty="0">
                <a:solidFill>
                  <a:srgbClr val="8E0000"/>
                </a:solidFill>
                <a:latin typeface="Calibri" pitchFamily="34" charset="0"/>
                <a:ea typeface="Calibri" pitchFamily="34" charset="-122"/>
                <a:cs typeface="Calibri" pitchFamily="34" charset="-120"/>
              </a:rPr>
              <a:t>Abstract</a:t>
            </a:r>
            <a:endParaRPr lang="en-US" sz="1600" dirty="0"/>
          </a:p>
        </p:txBody>
      </p:sp>
      <p:sp>
        <p:nvSpPr>
          <p:cNvPr id="12" name="Text 8"/>
          <p:cNvSpPr txBox="1"/>
          <p:nvPr/>
        </p:nvSpPr>
        <p:spPr>
          <a:xfrm>
            <a:off x="812800" y="2108200"/>
            <a:ext cx="10566400" cy="952500"/>
          </a:xfrm>
          <a:prstGeom prst="rect">
            <a:avLst/>
          </a:prstGeom>
          <a:noFill/>
          <a:ln/>
        </p:spPr>
        <p:txBody>
          <a:bodyPr wrap="square" lIns="0" tIns="0" rIns="0" bIns="0" rtlCol="0" anchor="t"/>
          <a:lstStyle/>
          <a:p>
            <a:pPr indent="0" marL="0">
              <a:lnSpc>
                <a:spcPct val="120000"/>
              </a:lnSpc>
              <a:buNone/>
            </a:pPr>
            <a:r>
              <a:rPr lang="en-US" sz="1500" dirty="0">
                <a:solidFill>
                  <a:srgbClr val="3D4458"/>
                </a:solidFill>
                <a:latin typeface="Calibri" pitchFamily="34" charset="0"/>
                <a:ea typeface="Calibri" pitchFamily="34" charset="-122"/>
                <a:cs typeface="Calibri" pitchFamily="34" charset="-120"/>
              </a:rPr>
              <a:t>Kaboom's Kitchen is a restaurant website built across the 14-week EWP lab. Customers can browse the menu, register and book a table. The Unit V part is an AngularJS single-page app that lists the menu with live search, takes bookings through a validated form, and keeps them in a shared BookingService, all without reloading the page.</a:t>
            </a:r>
            <a:endParaRPr lang="en-US" sz="1500" dirty="0"/>
          </a:p>
        </p:txBody>
      </p:sp>
      <p:sp>
        <p:nvSpPr>
          <p:cNvPr id="13" name="Shape 9"/>
          <p:cNvSpPr/>
          <p:nvPr/>
        </p:nvSpPr>
        <p:spPr>
          <a:xfrm>
            <a:off x="812800" y="3302000"/>
            <a:ext cx="10566400" cy="1460500"/>
          </a:xfrm>
          <a:prstGeom prst="roundRect">
            <a:avLst>
              <a:gd name="adj" fmla="val 5009"/>
            </a:avLst>
          </a:prstGeom>
          <a:solidFill>
            <a:srgbClr val="002060"/>
          </a:solidFill>
          <a:ln/>
        </p:spPr>
      </p:sp>
      <p:sp>
        <p:nvSpPr>
          <p:cNvPr id="14" name="Text 10"/>
          <p:cNvSpPr txBox="1"/>
          <p:nvPr/>
        </p:nvSpPr>
        <p:spPr>
          <a:xfrm>
            <a:off x="1168400" y="3556000"/>
            <a:ext cx="9906000" cy="254000"/>
          </a:xfrm>
          <a:prstGeom prst="rect">
            <a:avLst/>
          </a:prstGeom>
          <a:noFill/>
          <a:ln/>
        </p:spPr>
        <p:txBody>
          <a:bodyPr wrap="square" lIns="0" tIns="0" rIns="0" bIns="0" rtlCol="0" anchor="t"/>
          <a:lstStyle/>
          <a:p>
            <a:pPr indent="0" marL="0">
              <a:buNone/>
            </a:pPr>
            <a:r>
              <a:rPr lang="en-US" sz="1600" b="1" dirty="0">
                <a:solidFill>
                  <a:srgbClr val="F2C4C4"/>
                </a:solidFill>
                <a:latin typeface="Calibri" pitchFamily="34" charset="0"/>
                <a:ea typeface="Calibri" pitchFamily="34" charset="-122"/>
                <a:cs typeface="Calibri" pitchFamily="34" charset="-120"/>
              </a:rPr>
              <a:t>Problem Statement</a:t>
            </a:r>
            <a:endParaRPr lang="en-US" sz="1600" dirty="0"/>
          </a:p>
        </p:txBody>
      </p:sp>
      <p:sp>
        <p:nvSpPr>
          <p:cNvPr id="15" name="Text 11"/>
          <p:cNvSpPr txBox="1"/>
          <p:nvPr/>
        </p:nvSpPr>
        <p:spPr>
          <a:xfrm>
            <a:off x="1168400" y="3886200"/>
            <a:ext cx="9906000" cy="698500"/>
          </a:xfrm>
          <a:prstGeom prst="rect">
            <a:avLst/>
          </a:prstGeom>
          <a:noFill/>
          <a:ln/>
        </p:spPr>
        <p:txBody>
          <a:bodyPr wrap="square" lIns="0" tIns="0" rIns="0" bIns="0" rtlCol="0" anchor="t"/>
          <a:lstStyle/>
          <a:p>
            <a:pPr indent="0" marL="0">
              <a:lnSpc>
                <a:spcPct val="115000"/>
              </a:lnSpc>
              <a:buNone/>
            </a:pPr>
            <a:r>
              <a:rPr lang="en-US" sz="1800" dirty="0">
                <a:solidFill>
                  <a:srgbClr val="FFFFFF"/>
                </a:solidFill>
                <a:latin typeface="Cambria" pitchFamily="34" charset="0"/>
                <a:ea typeface="Cambria" pitchFamily="34" charset="-122"/>
                <a:cs typeface="Cambria" pitchFamily="34" charset="-120"/>
              </a:rPr>
              <a:t>Small restaurants often take bookings only by phone, which is slow and error-prone. Customers need a simple website to see the menu and book a table at any time.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INTRODUCTION</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Objectives &amp; Proposed System</a:t>
            </a:r>
            <a:endParaRPr lang="en-US" sz="3200" dirty="0"/>
          </a:p>
        </p:txBody>
      </p:sp>
      <p:sp>
        <p:nvSpPr>
          <p:cNvPr id="11" name="Text 7"/>
          <p:cNvSpPr txBox="1"/>
          <p:nvPr/>
        </p:nvSpPr>
        <p:spPr>
          <a:xfrm>
            <a:off x="812800" y="1803400"/>
            <a:ext cx="5080000" cy="254000"/>
          </a:xfrm>
          <a:prstGeom prst="rect">
            <a:avLst/>
          </a:prstGeom>
          <a:noFill/>
          <a:ln/>
        </p:spPr>
        <p:txBody>
          <a:bodyPr wrap="square" lIns="0" tIns="0" rIns="0" bIns="0" rtlCol="0" anchor="t"/>
          <a:lstStyle/>
          <a:p>
            <a:pPr indent="0" marL="0">
              <a:buNone/>
            </a:pPr>
            <a:r>
              <a:rPr lang="en-US" sz="1600" b="1" dirty="0">
                <a:solidFill>
                  <a:srgbClr val="8E0000"/>
                </a:solidFill>
                <a:latin typeface="Calibri" pitchFamily="34" charset="0"/>
                <a:ea typeface="Calibri" pitchFamily="34" charset="-122"/>
                <a:cs typeface="Calibri" pitchFamily="34" charset="-120"/>
              </a:rPr>
              <a:t>Objectives</a:t>
            </a:r>
            <a:endParaRPr lang="en-US" sz="1600" dirty="0"/>
          </a:p>
        </p:txBody>
      </p:sp>
      <p:sp>
        <p:nvSpPr>
          <p:cNvPr id="12" name="Shape 8"/>
          <p:cNvSpPr/>
          <p:nvPr/>
        </p:nvSpPr>
        <p:spPr>
          <a:xfrm>
            <a:off x="812800" y="2159000"/>
            <a:ext cx="5080000" cy="711200"/>
          </a:xfrm>
          <a:prstGeom prst="roundRect">
            <a:avLst>
              <a:gd name="adj" fmla="val 10286"/>
            </a:avLst>
          </a:prstGeom>
          <a:solidFill>
            <a:srgbClr val="FFFFFF"/>
          </a:solidFill>
          <a:ln w="12700">
            <a:solidFill>
              <a:srgbClr val="DDE1EA"/>
            </a:solidFill>
            <a:prstDash val="solid"/>
          </a:ln>
        </p:spPr>
      </p:sp>
      <p:sp>
        <p:nvSpPr>
          <p:cNvPr id="13" name="Text 9"/>
          <p:cNvSpPr txBox="1"/>
          <p:nvPr/>
        </p:nvSpPr>
        <p:spPr>
          <a:xfrm>
            <a:off x="1016000" y="2159000"/>
            <a:ext cx="571500" cy="711200"/>
          </a:xfrm>
          <a:prstGeom prst="rect">
            <a:avLst/>
          </a:prstGeom>
          <a:noFill/>
          <a:ln/>
        </p:spPr>
        <p:txBody>
          <a:bodyPr wrap="square" lIns="0" tIns="0" rIns="0" bIns="0" rtlCol="0" anchor="ctr"/>
          <a:lstStyle/>
          <a:p>
            <a:pPr indent="0" marL="0">
              <a:buNone/>
            </a:pPr>
            <a:r>
              <a:rPr lang="en-US" sz="2200" b="1" dirty="0">
                <a:solidFill>
                  <a:srgbClr val="8E0000"/>
                </a:solidFill>
                <a:latin typeface="Cambria" pitchFamily="34" charset="0"/>
                <a:ea typeface="Cambria" pitchFamily="34" charset="-122"/>
                <a:cs typeface="Cambria" pitchFamily="34" charset="-120"/>
              </a:rPr>
              <a:t>01</a:t>
            </a:r>
            <a:endParaRPr lang="en-US" sz="2200" dirty="0"/>
          </a:p>
        </p:txBody>
      </p:sp>
      <p:sp>
        <p:nvSpPr>
          <p:cNvPr id="14" name="Text 10"/>
          <p:cNvSpPr txBox="1"/>
          <p:nvPr/>
        </p:nvSpPr>
        <p:spPr>
          <a:xfrm>
            <a:off x="1625600" y="2159000"/>
            <a:ext cx="4064000" cy="711200"/>
          </a:xfrm>
          <a:prstGeom prst="rect">
            <a:avLst/>
          </a:prstGeom>
          <a:noFill/>
          <a:ln/>
        </p:spPr>
        <p:txBody>
          <a:bodyPr wrap="square" lIns="0" tIns="0" rIns="0" bIns="0" rtlCol="0" anchor="ctr"/>
          <a:lstStyle/>
          <a:p>
            <a:pPr indent="0" marL="0">
              <a:buNone/>
            </a:pPr>
            <a:r>
              <a:rPr lang="en-US" sz="1500" dirty="0">
                <a:solidFill>
                  <a:srgbClr val="3D4458"/>
                </a:solidFill>
                <a:latin typeface="Calibri" pitchFamily="34" charset="0"/>
                <a:ea typeface="Calibri" pitchFamily="34" charset="-122"/>
                <a:cs typeface="Calibri" pitchFamily="34" charset="-120"/>
              </a:rPr>
              <a:t>Show the full menu with live search and category filters</a:t>
            </a:r>
            <a:endParaRPr lang="en-US" sz="1500" dirty="0"/>
          </a:p>
        </p:txBody>
      </p:sp>
      <p:sp>
        <p:nvSpPr>
          <p:cNvPr id="15" name="Shape 11"/>
          <p:cNvSpPr/>
          <p:nvPr/>
        </p:nvSpPr>
        <p:spPr>
          <a:xfrm>
            <a:off x="812800" y="3022600"/>
            <a:ext cx="5080000" cy="711200"/>
          </a:xfrm>
          <a:prstGeom prst="roundRect">
            <a:avLst>
              <a:gd name="adj" fmla="val 10286"/>
            </a:avLst>
          </a:prstGeom>
          <a:solidFill>
            <a:srgbClr val="FFFFFF"/>
          </a:solidFill>
          <a:ln w="12700">
            <a:solidFill>
              <a:srgbClr val="DDE1EA"/>
            </a:solidFill>
            <a:prstDash val="solid"/>
          </a:ln>
        </p:spPr>
      </p:sp>
      <p:sp>
        <p:nvSpPr>
          <p:cNvPr id="16" name="Text 12"/>
          <p:cNvSpPr txBox="1"/>
          <p:nvPr/>
        </p:nvSpPr>
        <p:spPr>
          <a:xfrm>
            <a:off x="1016000" y="3022600"/>
            <a:ext cx="571500" cy="711200"/>
          </a:xfrm>
          <a:prstGeom prst="rect">
            <a:avLst/>
          </a:prstGeom>
          <a:noFill/>
          <a:ln/>
        </p:spPr>
        <p:txBody>
          <a:bodyPr wrap="square" lIns="0" tIns="0" rIns="0" bIns="0" rtlCol="0" anchor="ctr"/>
          <a:lstStyle/>
          <a:p>
            <a:pPr indent="0" marL="0">
              <a:buNone/>
            </a:pPr>
            <a:r>
              <a:rPr lang="en-US" sz="2200" b="1" dirty="0">
                <a:solidFill>
                  <a:srgbClr val="8E0000"/>
                </a:solidFill>
                <a:latin typeface="Cambria" pitchFamily="34" charset="0"/>
                <a:ea typeface="Cambria" pitchFamily="34" charset="-122"/>
                <a:cs typeface="Cambria" pitchFamily="34" charset="-120"/>
              </a:rPr>
              <a:t>02</a:t>
            </a:r>
            <a:endParaRPr lang="en-US" sz="2200" dirty="0"/>
          </a:p>
        </p:txBody>
      </p:sp>
      <p:sp>
        <p:nvSpPr>
          <p:cNvPr id="17" name="Text 13"/>
          <p:cNvSpPr txBox="1"/>
          <p:nvPr/>
        </p:nvSpPr>
        <p:spPr>
          <a:xfrm>
            <a:off x="1625600" y="3022600"/>
            <a:ext cx="4064000" cy="711200"/>
          </a:xfrm>
          <a:prstGeom prst="rect">
            <a:avLst/>
          </a:prstGeom>
          <a:noFill/>
          <a:ln/>
        </p:spPr>
        <p:txBody>
          <a:bodyPr wrap="square" lIns="0" tIns="0" rIns="0" bIns="0" rtlCol="0" anchor="ctr"/>
          <a:lstStyle/>
          <a:p>
            <a:pPr indent="0" marL="0">
              <a:buNone/>
            </a:pPr>
            <a:r>
              <a:rPr lang="en-US" sz="1500" dirty="0">
                <a:solidFill>
                  <a:srgbClr val="3D4458"/>
                </a:solidFill>
                <a:latin typeface="Calibri" pitchFamily="34" charset="0"/>
                <a:ea typeface="Calibri" pitchFamily="34" charset="-122"/>
                <a:cs typeface="Calibri" pitchFamily="34" charset="-120"/>
              </a:rPr>
              <a:t>Take table bookings through a form that validates every field</a:t>
            </a:r>
            <a:endParaRPr lang="en-US" sz="1500" dirty="0"/>
          </a:p>
        </p:txBody>
      </p:sp>
      <p:sp>
        <p:nvSpPr>
          <p:cNvPr id="18" name="Shape 14"/>
          <p:cNvSpPr/>
          <p:nvPr/>
        </p:nvSpPr>
        <p:spPr>
          <a:xfrm>
            <a:off x="812800" y="3886200"/>
            <a:ext cx="5080000" cy="711200"/>
          </a:xfrm>
          <a:prstGeom prst="roundRect">
            <a:avLst>
              <a:gd name="adj" fmla="val 10286"/>
            </a:avLst>
          </a:prstGeom>
          <a:solidFill>
            <a:srgbClr val="FFFFFF"/>
          </a:solidFill>
          <a:ln w="12700">
            <a:solidFill>
              <a:srgbClr val="DDE1EA"/>
            </a:solidFill>
            <a:prstDash val="solid"/>
          </a:ln>
        </p:spPr>
      </p:sp>
      <p:sp>
        <p:nvSpPr>
          <p:cNvPr id="19" name="Text 15"/>
          <p:cNvSpPr txBox="1"/>
          <p:nvPr/>
        </p:nvSpPr>
        <p:spPr>
          <a:xfrm>
            <a:off x="1016000" y="3886200"/>
            <a:ext cx="571500" cy="711200"/>
          </a:xfrm>
          <a:prstGeom prst="rect">
            <a:avLst/>
          </a:prstGeom>
          <a:noFill/>
          <a:ln/>
        </p:spPr>
        <p:txBody>
          <a:bodyPr wrap="square" lIns="0" tIns="0" rIns="0" bIns="0" rtlCol="0" anchor="ctr"/>
          <a:lstStyle/>
          <a:p>
            <a:pPr indent="0" marL="0">
              <a:buNone/>
            </a:pPr>
            <a:r>
              <a:rPr lang="en-US" sz="2200" b="1" dirty="0">
                <a:solidFill>
                  <a:srgbClr val="8E0000"/>
                </a:solidFill>
                <a:latin typeface="Cambria" pitchFamily="34" charset="0"/>
                <a:ea typeface="Cambria" pitchFamily="34" charset="-122"/>
                <a:cs typeface="Cambria" pitchFamily="34" charset="-120"/>
              </a:rPr>
              <a:t>03</a:t>
            </a:r>
            <a:endParaRPr lang="en-US" sz="2200" dirty="0"/>
          </a:p>
        </p:txBody>
      </p:sp>
      <p:sp>
        <p:nvSpPr>
          <p:cNvPr id="20" name="Text 16"/>
          <p:cNvSpPr txBox="1"/>
          <p:nvPr/>
        </p:nvSpPr>
        <p:spPr>
          <a:xfrm>
            <a:off x="1625600" y="3886200"/>
            <a:ext cx="4064000" cy="711200"/>
          </a:xfrm>
          <a:prstGeom prst="rect">
            <a:avLst/>
          </a:prstGeom>
          <a:noFill/>
          <a:ln/>
        </p:spPr>
        <p:txBody>
          <a:bodyPr wrap="square" lIns="0" tIns="0" rIns="0" bIns="0" rtlCol="0" anchor="ctr"/>
          <a:lstStyle/>
          <a:p>
            <a:pPr indent="0" marL="0">
              <a:buNone/>
            </a:pPr>
            <a:r>
              <a:rPr lang="en-US" sz="1500" dirty="0">
                <a:solidFill>
                  <a:srgbClr val="3D4458"/>
                </a:solidFill>
                <a:latin typeface="Calibri" pitchFamily="34" charset="0"/>
                <a:ea typeface="Calibri" pitchFamily="34" charset="-122"/>
                <a:cs typeface="Calibri" pitchFamily="34" charset="-120"/>
              </a:rPr>
              <a:t>Keep bookings in one shared service and list them instantly</a:t>
            </a:r>
            <a:endParaRPr lang="en-US" sz="1500" dirty="0"/>
          </a:p>
        </p:txBody>
      </p:sp>
      <p:sp>
        <p:nvSpPr>
          <p:cNvPr id="21" name="Shape 17"/>
          <p:cNvSpPr/>
          <p:nvPr/>
        </p:nvSpPr>
        <p:spPr>
          <a:xfrm>
            <a:off x="6197600" y="1803400"/>
            <a:ext cx="5181600" cy="3657600"/>
          </a:xfrm>
          <a:prstGeom prst="roundRect">
            <a:avLst>
              <a:gd name="adj" fmla="val 2000"/>
            </a:avLst>
          </a:prstGeom>
          <a:solidFill>
            <a:srgbClr val="002060"/>
          </a:solidFill>
          <a:ln/>
        </p:spPr>
      </p:sp>
      <p:sp>
        <p:nvSpPr>
          <p:cNvPr id="22" name="Text 18"/>
          <p:cNvSpPr txBox="1"/>
          <p:nvPr/>
        </p:nvSpPr>
        <p:spPr>
          <a:xfrm>
            <a:off x="6477000" y="2032000"/>
            <a:ext cx="4699000" cy="254000"/>
          </a:xfrm>
          <a:prstGeom prst="rect">
            <a:avLst/>
          </a:prstGeom>
          <a:noFill/>
          <a:ln/>
        </p:spPr>
        <p:txBody>
          <a:bodyPr wrap="square" lIns="0" tIns="0" rIns="0" bIns="0" rtlCol="0" anchor="t"/>
          <a:lstStyle/>
          <a:p>
            <a:pPr indent="0" marL="0">
              <a:buNone/>
            </a:pPr>
            <a:r>
              <a:rPr lang="en-US" sz="1600" b="1" dirty="0">
                <a:solidFill>
                  <a:srgbClr val="F2C4C4"/>
                </a:solidFill>
                <a:latin typeface="Calibri" pitchFamily="34" charset="0"/>
                <a:ea typeface="Calibri" pitchFamily="34" charset="-122"/>
                <a:cs typeface="Calibri" pitchFamily="34" charset="-120"/>
              </a:rPr>
              <a:t>Proposed System</a:t>
            </a:r>
            <a:endParaRPr lang="en-US" sz="1600" dirty="0"/>
          </a:p>
        </p:txBody>
      </p:sp>
      <p:sp>
        <p:nvSpPr>
          <p:cNvPr id="23" name="Text 19"/>
          <p:cNvSpPr txBox="1"/>
          <p:nvPr/>
        </p:nvSpPr>
        <p:spPr>
          <a:xfrm>
            <a:off x="6477000" y="2362200"/>
            <a:ext cx="4622800" cy="825500"/>
          </a:xfrm>
          <a:prstGeom prst="rect">
            <a:avLst/>
          </a:prstGeom>
          <a:noFill/>
          <a:ln/>
        </p:spPr>
        <p:txBody>
          <a:bodyPr wrap="square" lIns="0" tIns="0" rIns="0" bIns="0" rtlCol="0" anchor="t"/>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A single-page AngularJS app: three tabs (Menu, Book a Table, Reservations) swap in place, and the booking form checks every input before saving.</a:t>
            </a:r>
            <a:endParaRPr lang="en-US" sz="1500" dirty="0"/>
          </a:p>
        </p:txBody>
      </p:sp>
      <p:pic>
        <p:nvPicPr>
          <p:cNvPr id="24" name="Image 1" descr="preencoded.png">    </p:cNvPr>
          <p:cNvPicPr>
            <a:picLocks noChangeAspect="1"/>
          </p:cNvPicPr>
          <p:nvPr/>
        </p:nvPicPr>
        <p:blipFill>
          <a:blip r:embed="rId2"/>
          <a:stretch>
            <a:fillRect/>
          </a:stretch>
        </p:blipFill>
        <p:spPr>
          <a:xfrm>
            <a:off x="6477000" y="3568700"/>
            <a:ext cx="228600" cy="228600"/>
          </a:xfrm>
          <a:prstGeom prst="rect">
            <a:avLst/>
          </a:prstGeom>
        </p:spPr>
      </p:pic>
      <p:sp>
        <p:nvSpPr>
          <p:cNvPr id="25" name="Text 20"/>
          <p:cNvSpPr txBox="1"/>
          <p:nvPr/>
        </p:nvSpPr>
        <p:spPr>
          <a:xfrm>
            <a:off x="6807200" y="3556000"/>
            <a:ext cx="4292600" cy="2540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Live menu search + category filter</a:t>
            </a:r>
            <a:endParaRPr lang="en-US" sz="1500" dirty="0"/>
          </a:p>
        </p:txBody>
      </p:sp>
      <p:pic>
        <p:nvPicPr>
          <p:cNvPr id="26" name="Image 2" descr="preencoded.png">    </p:cNvPr>
          <p:cNvPicPr>
            <a:picLocks noChangeAspect="1"/>
          </p:cNvPicPr>
          <p:nvPr/>
        </p:nvPicPr>
        <p:blipFill>
          <a:blip r:embed="rId3"/>
          <a:stretch>
            <a:fillRect/>
          </a:stretch>
        </p:blipFill>
        <p:spPr>
          <a:xfrm>
            <a:off x="6477000" y="4076700"/>
            <a:ext cx="228600" cy="228600"/>
          </a:xfrm>
          <a:prstGeom prst="rect">
            <a:avLst/>
          </a:prstGeom>
        </p:spPr>
      </p:pic>
      <p:sp>
        <p:nvSpPr>
          <p:cNvPr id="27" name="Text 21"/>
          <p:cNvSpPr txBox="1"/>
          <p:nvPr/>
        </p:nvSpPr>
        <p:spPr>
          <a:xfrm>
            <a:off x="6807200" y="4064000"/>
            <a:ext cx="4292600" cy="2540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Validated booking form with live preview</a:t>
            </a:r>
            <a:endParaRPr lang="en-US" sz="1500" dirty="0"/>
          </a:p>
        </p:txBody>
      </p:sp>
      <p:pic>
        <p:nvPicPr>
          <p:cNvPr id="28" name="Image 3" descr="preencoded.png">    </p:cNvPr>
          <p:cNvPicPr>
            <a:picLocks noChangeAspect="1"/>
          </p:cNvPicPr>
          <p:nvPr/>
        </p:nvPicPr>
        <p:blipFill>
          <a:blip r:embed="rId4"/>
          <a:stretch>
            <a:fillRect/>
          </a:stretch>
        </p:blipFill>
        <p:spPr>
          <a:xfrm>
            <a:off x="6477000" y="4584700"/>
            <a:ext cx="228600" cy="228600"/>
          </a:xfrm>
          <a:prstGeom prst="rect">
            <a:avLst/>
          </a:prstGeom>
        </p:spPr>
      </p:pic>
      <p:sp>
        <p:nvSpPr>
          <p:cNvPr id="29" name="Text 22"/>
          <p:cNvSpPr txBox="1"/>
          <p:nvPr/>
        </p:nvSpPr>
        <p:spPr>
          <a:xfrm>
            <a:off x="6807200" y="4572000"/>
            <a:ext cx="4292600" cy="2540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Reservations list updates instantly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SYSTEM DESIGN</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Technologies &amp; Architecture</a:t>
            </a:r>
            <a:endParaRPr lang="en-US" sz="3200" dirty="0"/>
          </a:p>
        </p:txBody>
      </p:sp>
      <p:sp>
        <p:nvSpPr>
          <p:cNvPr id="11" name="Shape 7"/>
          <p:cNvSpPr/>
          <p:nvPr/>
        </p:nvSpPr>
        <p:spPr>
          <a:xfrm>
            <a:off x="812800" y="1905000"/>
            <a:ext cx="1587500" cy="1587500"/>
          </a:xfrm>
          <a:prstGeom prst="roundRect">
            <a:avLst>
              <a:gd name="adj" fmla="val 4608"/>
            </a:avLst>
          </a:prstGeom>
          <a:solidFill>
            <a:srgbClr val="FFFFFF"/>
          </a:solidFill>
          <a:ln w="19050">
            <a:solidFill>
              <a:srgbClr val="002060"/>
            </a:solidFill>
            <a:prstDash val="solid"/>
          </a:ln>
        </p:spPr>
      </p:sp>
      <p:pic>
        <p:nvPicPr>
          <p:cNvPr id="12" name="Image 1" descr="preencoded.png">    </p:cNvPr>
          <p:cNvPicPr>
            <a:picLocks noChangeAspect="1"/>
          </p:cNvPicPr>
          <p:nvPr/>
        </p:nvPicPr>
        <p:blipFill>
          <a:blip r:embed="rId2"/>
          <a:stretch>
            <a:fillRect/>
          </a:stretch>
        </p:blipFill>
        <p:spPr>
          <a:xfrm>
            <a:off x="1428750" y="2108200"/>
            <a:ext cx="355600" cy="355600"/>
          </a:xfrm>
          <a:prstGeom prst="rect">
            <a:avLst/>
          </a:prstGeom>
        </p:spPr>
      </p:pic>
      <p:sp>
        <p:nvSpPr>
          <p:cNvPr id="13" name="Text 8"/>
          <p:cNvSpPr txBox="1"/>
          <p:nvPr/>
        </p:nvSpPr>
        <p:spPr>
          <a:xfrm>
            <a:off x="876300" y="2565400"/>
            <a:ext cx="1460500" cy="254000"/>
          </a:xfrm>
          <a:prstGeom prst="rect">
            <a:avLst/>
          </a:prstGeom>
          <a:noFill/>
          <a:ln/>
        </p:spPr>
        <p:txBody>
          <a:bodyPr wrap="square" lIns="0" tIns="0" rIns="0" bIns="0" rtlCol="0" anchor="t"/>
          <a:lstStyle/>
          <a:p>
            <a:pPr algn="ctr" indent="0" marL="0">
              <a:buNone/>
            </a:pPr>
            <a:r>
              <a:rPr lang="en-US" sz="1500" b="1" dirty="0">
                <a:solidFill>
                  <a:srgbClr val="002060"/>
                </a:solidFill>
                <a:latin typeface="Calibri" pitchFamily="34" charset="0"/>
                <a:ea typeface="Calibri" pitchFamily="34" charset="-122"/>
                <a:cs typeface="Calibri" pitchFamily="34" charset="-120"/>
              </a:rPr>
              <a:t>User</a:t>
            </a:r>
            <a:endParaRPr lang="en-US" sz="1500" dirty="0"/>
          </a:p>
        </p:txBody>
      </p:sp>
      <p:sp>
        <p:nvSpPr>
          <p:cNvPr id="14" name="Text 9"/>
          <p:cNvSpPr txBox="1"/>
          <p:nvPr/>
        </p:nvSpPr>
        <p:spPr>
          <a:xfrm>
            <a:off x="901700" y="2857500"/>
            <a:ext cx="1409700" cy="508000"/>
          </a:xfrm>
          <a:prstGeom prst="rect">
            <a:avLst/>
          </a:prstGeom>
          <a:noFill/>
          <a:ln/>
        </p:spPr>
        <p:txBody>
          <a:bodyPr wrap="square" lIns="0" tIns="0" rIns="0" bIns="0" rtlCol="0" anchor="t"/>
          <a:lstStyle/>
          <a:p>
            <a:pPr algn="ctr" indent="0" marL="0">
              <a:buNone/>
            </a:pPr>
            <a:r>
              <a:rPr lang="en-US" sz="1200" dirty="0">
                <a:solidFill>
                  <a:srgbClr val="3D4458"/>
                </a:solidFill>
                <a:latin typeface="Calibri" pitchFamily="34" charset="0"/>
                <a:ea typeface="Calibri" pitchFamily="34" charset="-122"/>
                <a:cs typeface="Calibri" pitchFamily="34" charset="-120"/>
              </a:rPr>
              <a:t>Browser (Chrome)</a:t>
            </a:r>
            <a:endParaRPr lang="en-US" sz="1200" dirty="0"/>
          </a:p>
        </p:txBody>
      </p:sp>
      <p:sp>
        <p:nvSpPr>
          <p:cNvPr id="15" name="Shape 10"/>
          <p:cNvSpPr/>
          <p:nvPr/>
        </p:nvSpPr>
        <p:spPr>
          <a:xfrm>
            <a:off x="2527300" y="2597150"/>
            <a:ext cx="406400" cy="203200"/>
          </a:xfrm>
          <a:prstGeom prst="rightArrow">
            <a:avLst/>
          </a:prstGeom>
          <a:solidFill>
            <a:srgbClr val="8E0000"/>
          </a:solidFill>
          <a:ln/>
        </p:spPr>
      </p:sp>
      <p:sp>
        <p:nvSpPr>
          <p:cNvPr id="16" name="Shape 11"/>
          <p:cNvSpPr/>
          <p:nvPr/>
        </p:nvSpPr>
        <p:spPr>
          <a:xfrm>
            <a:off x="3060700" y="1905000"/>
            <a:ext cx="1587500" cy="1587500"/>
          </a:xfrm>
          <a:prstGeom prst="roundRect">
            <a:avLst>
              <a:gd name="adj" fmla="val 4608"/>
            </a:avLst>
          </a:prstGeom>
          <a:solidFill>
            <a:srgbClr val="FFFFFF"/>
          </a:solidFill>
          <a:ln w="19050">
            <a:solidFill>
              <a:srgbClr val="002060"/>
            </a:solidFill>
            <a:prstDash val="solid"/>
          </a:ln>
        </p:spPr>
      </p:sp>
      <p:pic>
        <p:nvPicPr>
          <p:cNvPr id="17" name="Image 2" descr="preencoded.png">    </p:cNvPr>
          <p:cNvPicPr>
            <a:picLocks noChangeAspect="1"/>
          </p:cNvPicPr>
          <p:nvPr/>
        </p:nvPicPr>
        <p:blipFill>
          <a:blip r:embed="rId3"/>
          <a:stretch>
            <a:fillRect/>
          </a:stretch>
        </p:blipFill>
        <p:spPr>
          <a:xfrm>
            <a:off x="3676650" y="2108200"/>
            <a:ext cx="355600" cy="355600"/>
          </a:xfrm>
          <a:prstGeom prst="rect">
            <a:avLst/>
          </a:prstGeom>
        </p:spPr>
      </p:pic>
      <p:sp>
        <p:nvSpPr>
          <p:cNvPr id="18" name="Text 12"/>
          <p:cNvSpPr txBox="1"/>
          <p:nvPr/>
        </p:nvSpPr>
        <p:spPr>
          <a:xfrm>
            <a:off x="3124200" y="2565400"/>
            <a:ext cx="1460500" cy="254000"/>
          </a:xfrm>
          <a:prstGeom prst="rect">
            <a:avLst/>
          </a:prstGeom>
          <a:noFill/>
          <a:ln/>
        </p:spPr>
        <p:txBody>
          <a:bodyPr wrap="square" lIns="0" tIns="0" rIns="0" bIns="0" rtlCol="0" anchor="t"/>
          <a:lstStyle/>
          <a:p>
            <a:pPr algn="ctr" indent="0" marL="0">
              <a:buNone/>
            </a:pPr>
            <a:r>
              <a:rPr lang="en-US" sz="1500" b="1" dirty="0">
                <a:solidFill>
                  <a:srgbClr val="002060"/>
                </a:solidFill>
                <a:latin typeface="Calibri" pitchFamily="34" charset="0"/>
                <a:ea typeface="Calibri" pitchFamily="34" charset="-122"/>
                <a:cs typeface="Calibri" pitchFamily="34" charset="-120"/>
              </a:rPr>
              <a:t>Controller</a:t>
            </a:r>
            <a:endParaRPr lang="en-US" sz="1500" dirty="0"/>
          </a:p>
        </p:txBody>
      </p:sp>
      <p:sp>
        <p:nvSpPr>
          <p:cNvPr id="19" name="Text 13"/>
          <p:cNvSpPr txBox="1"/>
          <p:nvPr/>
        </p:nvSpPr>
        <p:spPr>
          <a:xfrm>
            <a:off x="3149600" y="2857500"/>
            <a:ext cx="1409700" cy="508000"/>
          </a:xfrm>
          <a:prstGeom prst="rect">
            <a:avLst/>
          </a:prstGeom>
          <a:noFill/>
          <a:ln/>
        </p:spPr>
        <p:txBody>
          <a:bodyPr wrap="square" lIns="0" tIns="0" rIns="0" bIns="0" rtlCol="0" anchor="t"/>
          <a:lstStyle/>
          <a:p>
            <a:pPr algn="ctr" indent="0" marL="0">
              <a:buNone/>
            </a:pPr>
            <a:r>
              <a:rPr lang="en-US" sz="1200" dirty="0">
                <a:solidFill>
                  <a:srgbClr val="3D4458"/>
                </a:solidFill>
                <a:latin typeface="Calibri" pitchFamily="34" charset="0"/>
                <a:ea typeface="Calibri" pitchFamily="34" charset="-122"/>
                <a:cs typeface="Calibri" pitchFamily="34" charset="-120"/>
              </a:rPr>
              <a:t>RestaurantController + views</a:t>
            </a:r>
            <a:endParaRPr lang="en-US" sz="1200" dirty="0"/>
          </a:p>
        </p:txBody>
      </p:sp>
      <p:sp>
        <p:nvSpPr>
          <p:cNvPr id="20" name="Shape 14"/>
          <p:cNvSpPr/>
          <p:nvPr/>
        </p:nvSpPr>
        <p:spPr>
          <a:xfrm>
            <a:off x="4775200" y="2597150"/>
            <a:ext cx="406400" cy="203200"/>
          </a:xfrm>
          <a:prstGeom prst="rightArrow">
            <a:avLst/>
          </a:prstGeom>
          <a:solidFill>
            <a:srgbClr val="8E0000"/>
          </a:solidFill>
          <a:ln/>
        </p:spPr>
      </p:sp>
      <p:sp>
        <p:nvSpPr>
          <p:cNvPr id="21" name="Shape 15"/>
          <p:cNvSpPr/>
          <p:nvPr/>
        </p:nvSpPr>
        <p:spPr>
          <a:xfrm>
            <a:off x="5308600" y="1905000"/>
            <a:ext cx="1587500" cy="1587500"/>
          </a:xfrm>
          <a:prstGeom prst="roundRect">
            <a:avLst>
              <a:gd name="adj" fmla="val 4608"/>
            </a:avLst>
          </a:prstGeom>
          <a:solidFill>
            <a:srgbClr val="FFFFFF"/>
          </a:solidFill>
          <a:ln w="19050">
            <a:solidFill>
              <a:srgbClr val="002060"/>
            </a:solidFill>
            <a:prstDash val="solid"/>
          </a:ln>
        </p:spPr>
      </p:sp>
      <p:pic>
        <p:nvPicPr>
          <p:cNvPr id="22" name="Image 3" descr="preencoded.png">    </p:cNvPr>
          <p:cNvPicPr>
            <a:picLocks noChangeAspect="1"/>
          </p:cNvPicPr>
          <p:nvPr/>
        </p:nvPicPr>
        <p:blipFill>
          <a:blip r:embed="rId4"/>
          <a:stretch>
            <a:fillRect/>
          </a:stretch>
        </p:blipFill>
        <p:spPr>
          <a:xfrm>
            <a:off x="5924550" y="2108200"/>
            <a:ext cx="355600" cy="355600"/>
          </a:xfrm>
          <a:prstGeom prst="rect">
            <a:avLst/>
          </a:prstGeom>
        </p:spPr>
      </p:pic>
      <p:sp>
        <p:nvSpPr>
          <p:cNvPr id="23" name="Text 16"/>
          <p:cNvSpPr txBox="1"/>
          <p:nvPr/>
        </p:nvSpPr>
        <p:spPr>
          <a:xfrm>
            <a:off x="5372100" y="2565400"/>
            <a:ext cx="1460500" cy="254000"/>
          </a:xfrm>
          <a:prstGeom prst="rect">
            <a:avLst/>
          </a:prstGeom>
          <a:noFill/>
          <a:ln/>
        </p:spPr>
        <p:txBody>
          <a:bodyPr wrap="square" lIns="0" tIns="0" rIns="0" bIns="0" rtlCol="0" anchor="t"/>
          <a:lstStyle/>
          <a:p>
            <a:pPr algn="ctr" indent="0" marL="0">
              <a:buNone/>
            </a:pPr>
            <a:r>
              <a:rPr lang="en-US" sz="1500" b="1" dirty="0">
                <a:solidFill>
                  <a:srgbClr val="002060"/>
                </a:solidFill>
                <a:latin typeface="Calibri" pitchFamily="34" charset="0"/>
                <a:ea typeface="Calibri" pitchFamily="34" charset="-122"/>
                <a:cs typeface="Calibri" pitchFamily="34" charset="-120"/>
              </a:rPr>
              <a:t>Services</a:t>
            </a:r>
            <a:endParaRPr lang="en-US" sz="1500" dirty="0"/>
          </a:p>
        </p:txBody>
      </p:sp>
      <p:sp>
        <p:nvSpPr>
          <p:cNvPr id="24" name="Text 17"/>
          <p:cNvSpPr txBox="1"/>
          <p:nvPr/>
        </p:nvSpPr>
        <p:spPr>
          <a:xfrm>
            <a:off x="5397500" y="2857500"/>
            <a:ext cx="1409700" cy="508000"/>
          </a:xfrm>
          <a:prstGeom prst="rect">
            <a:avLst/>
          </a:prstGeom>
          <a:noFill/>
          <a:ln/>
        </p:spPr>
        <p:txBody>
          <a:bodyPr wrap="square" lIns="0" tIns="0" rIns="0" bIns="0" rtlCol="0" anchor="t"/>
          <a:lstStyle/>
          <a:p>
            <a:pPr algn="ctr" indent="0" marL="0">
              <a:buNone/>
            </a:pPr>
            <a:r>
              <a:rPr lang="en-US" sz="1200" dirty="0">
                <a:solidFill>
                  <a:srgbClr val="3D4458"/>
                </a:solidFill>
                <a:latin typeface="Calibri" pitchFamily="34" charset="0"/>
                <a:ea typeface="Calibri" pitchFamily="34" charset="-122"/>
                <a:cs typeface="Calibri" pitchFamily="34" charset="-120"/>
              </a:rPr>
              <a:t>BookingService (DI)</a:t>
            </a:r>
            <a:endParaRPr lang="en-US" sz="1200" dirty="0"/>
          </a:p>
        </p:txBody>
      </p:sp>
      <p:sp>
        <p:nvSpPr>
          <p:cNvPr id="25" name="Shape 18"/>
          <p:cNvSpPr/>
          <p:nvPr/>
        </p:nvSpPr>
        <p:spPr>
          <a:xfrm>
            <a:off x="7023100" y="2597150"/>
            <a:ext cx="406400" cy="203200"/>
          </a:xfrm>
          <a:prstGeom prst="rightArrow">
            <a:avLst/>
          </a:prstGeom>
          <a:solidFill>
            <a:srgbClr val="8E0000"/>
          </a:solidFill>
          <a:ln/>
        </p:spPr>
      </p:sp>
      <p:sp>
        <p:nvSpPr>
          <p:cNvPr id="26" name="Shape 19"/>
          <p:cNvSpPr/>
          <p:nvPr/>
        </p:nvSpPr>
        <p:spPr>
          <a:xfrm>
            <a:off x="7556500" y="1905000"/>
            <a:ext cx="1587500" cy="1587500"/>
          </a:xfrm>
          <a:prstGeom prst="roundRect">
            <a:avLst>
              <a:gd name="adj" fmla="val 4608"/>
            </a:avLst>
          </a:prstGeom>
          <a:solidFill>
            <a:srgbClr val="FFFFFF"/>
          </a:solidFill>
          <a:ln w="19050">
            <a:solidFill>
              <a:srgbClr val="002060"/>
            </a:solidFill>
            <a:prstDash val="solid"/>
          </a:ln>
        </p:spPr>
      </p:sp>
      <p:pic>
        <p:nvPicPr>
          <p:cNvPr id="27" name="Image 4" descr="preencoded.png">    </p:cNvPr>
          <p:cNvPicPr>
            <a:picLocks noChangeAspect="1"/>
          </p:cNvPicPr>
          <p:nvPr/>
        </p:nvPicPr>
        <p:blipFill>
          <a:blip r:embed="rId5"/>
          <a:stretch>
            <a:fillRect/>
          </a:stretch>
        </p:blipFill>
        <p:spPr>
          <a:xfrm>
            <a:off x="8172450" y="2108200"/>
            <a:ext cx="355600" cy="355600"/>
          </a:xfrm>
          <a:prstGeom prst="rect">
            <a:avLst/>
          </a:prstGeom>
        </p:spPr>
      </p:pic>
      <p:sp>
        <p:nvSpPr>
          <p:cNvPr id="28" name="Text 20"/>
          <p:cNvSpPr txBox="1"/>
          <p:nvPr/>
        </p:nvSpPr>
        <p:spPr>
          <a:xfrm>
            <a:off x="7620000" y="2565400"/>
            <a:ext cx="1460500" cy="254000"/>
          </a:xfrm>
          <a:prstGeom prst="rect">
            <a:avLst/>
          </a:prstGeom>
          <a:noFill/>
          <a:ln/>
        </p:spPr>
        <p:txBody>
          <a:bodyPr wrap="square" lIns="0" tIns="0" rIns="0" bIns="0" rtlCol="0" anchor="t"/>
          <a:lstStyle/>
          <a:p>
            <a:pPr algn="ctr" indent="0" marL="0">
              <a:buNone/>
            </a:pPr>
            <a:r>
              <a:rPr lang="en-US" sz="1500" b="1" dirty="0">
                <a:solidFill>
                  <a:srgbClr val="002060"/>
                </a:solidFill>
                <a:latin typeface="Calibri" pitchFamily="34" charset="0"/>
                <a:ea typeface="Calibri" pitchFamily="34" charset="-122"/>
                <a:cs typeface="Calibri" pitchFamily="34" charset="-120"/>
              </a:rPr>
              <a:t>Fetch API</a:t>
            </a:r>
            <a:endParaRPr lang="en-US" sz="1500" dirty="0"/>
          </a:p>
        </p:txBody>
      </p:sp>
      <p:sp>
        <p:nvSpPr>
          <p:cNvPr id="29" name="Text 21"/>
          <p:cNvSpPr txBox="1"/>
          <p:nvPr/>
        </p:nvSpPr>
        <p:spPr>
          <a:xfrm>
            <a:off x="7645400" y="2857500"/>
            <a:ext cx="1409700" cy="508000"/>
          </a:xfrm>
          <a:prstGeom prst="rect">
            <a:avLst/>
          </a:prstGeom>
          <a:noFill/>
          <a:ln/>
        </p:spPr>
        <p:txBody>
          <a:bodyPr wrap="square" lIns="0" tIns="0" rIns="0" bIns="0" rtlCol="0" anchor="t"/>
          <a:lstStyle/>
          <a:p>
            <a:pPr algn="ctr" indent="0" marL="0">
              <a:buNone/>
            </a:pPr>
            <a:r>
              <a:rPr lang="en-US" sz="1200" dirty="0">
                <a:solidFill>
                  <a:srgbClr val="3D4458"/>
                </a:solidFill>
                <a:latin typeface="Calibri" pitchFamily="34" charset="0"/>
                <a:ea typeface="Calibri" pitchFamily="34" charset="-122"/>
                <a:cs typeface="Calibri" pitchFamily="34" charset="-120"/>
              </a:rPr>
              <a:t>GET text / JSON / XML, POST</a:t>
            </a:r>
            <a:endParaRPr lang="en-US" sz="1200" dirty="0"/>
          </a:p>
        </p:txBody>
      </p:sp>
      <p:sp>
        <p:nvSpPr>
          <p:cNvPr id="30" name="Shape 22"/>
          <p:cNvSpPr/>
          <p:nvPr/>
        </p:nvSpPr>
        <p:spPr>
          <a:xfrm>
            <a:off x="9271000" y="2597150"/>
            <a:ext cx="406400" cy="203200"/>
          </a:xfrm>
          <a:prstGeom prst="rightArrow">
            <a:avLst/>
          </a:prstGeom>
          <a:solidFill>
            <a:srgbClr val="8E0000"/>
          </a:solidFill>
          <a:ln/>
        </p:spPr>
      </p:sp>
      <p:sp>
        <p:nvSpPr>
          <p:cNvPr id="31" name="Shape 23"/>
          <p:cNvSpPr/>
          <p:nvPr/>
        </p:nvSpPr>
        <p:spPr>
          <a:xfrm>
            <a:off x="9804400" y="1905000"/>
            <a:ext cx="1587500" cy="1587500"/>
          </a:xfrm>
          <a:prstGeom prst="roundRect">
            <a:avLst>
              <a:gd name="adj" fmla="val 4608"/>
            </a:avLst>
          </a:prstGeom>
          <a:solidFill>
            <a:srgbClr val="002060"/>
          </a:solidFill>
          <a:ln w="19050">
            <a:solidFill>
              <a:srgbClr val="002060"/>
            </a:solidFill>
            <a:prstDash val="solid"/>
          </a:ln>
        </p:spPr>
      </p:sp>
      <p:pic>
        <p:nvPicPr>
          <p:cNvPr id="32" name="Image 5" descr="preencoded.png">    </p:cNvPr>
          <p:cNvPicPr>
            <a:picLocks noChangeAspect="1"/>
          </p:cNvPicPr>
          <p:nvPr/>
        </p:nvPicPr>
        <p:blipFill>
          <a:blip r:embed="rId6"/>
          <a:stretch>
            <a:fillRect/>
          </a:stretch>
        </p:blipFill>
        <p:spPr>
          <a:xfrm>
            <a:off x="10420350" y="2108200"/>
            <a:ext cx="355600" cy="355600"/>
          </a:xfrm>
          <a:prstGeom prst="rect">
            <a:avLst/>
          </a:prstGeom>
        </p:spPr>
      </p:pic>
      <p:sp>
        <p:nvSpPr>
          <p:cNvPr id="33" name="Text 24"/>
          <p:cNvSpPr txBox="1"/>
          <p:nvPr/>
        </p:nvSpPr>
        <p:spPr>
          <a:xfrm>
            <a:off x="9867900" y="2565400"/>
            <a:ext cx="1460500" cy="25400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Data</a:t>
            </a:r>
            <a:endParaRPr lang="en-US" sz="1500" dirty="0"/>
          </a:p>
        </p:txBody>
      </p:sp>
      <p:sp>
        <p:nvSpPr>
          <p:cNvPr id="34" name="Text 25"/>
          <p:cNvSpPr txBox="1"/>
          <p:nvPr/>
        </p:nvSpPr>
        <p:spPr>
          <a:xfrm>
            <a:off x="9893300" y="2857500"/>
            <a:ext cx="1409700" cy="508000"/>
          </a:xfrm>
          <a:prstGeom prst="rect">
            <a:avLst/>
          </a:prstGeom>
          <a:noFill/>
          <a:ln/>
        </p:spPr>
        <p:txBody>
          <a:bodyPr wrap="square" lIns="0" tIns="0" rIns="0" bIns="0" rtlCol="0" anchor="t"/>
          <a:lstStyle/>
          <a:p>
            <a:pPr algn="ctr" indent="0" marL="0">
              <a:buNone/>
            </a:pPr>
            <a:r>
              <a:rPr lang="en-US" sz="1200" dirty="0">
                <a:solidFill>
                  <a:srgbClr val="D6DCEB"/>
                </a:solidFill>
                <a:latin typeface="Calibri" pitchFamily="34" charset="0"/>
                <a:ea typeface="Calibri" pitchFamily="34" charset="-122"/>
                <a:cs typeface="Calibri" pitchFamily="34" charset="-120"/>
              </a:rPr>
              <a:t>JSON + XML files, test API</a:t>
            </a:r>
            <a:endParaRPr lang="en-US" sz="1200" dirty="0"/>
          </a:p>
        </p:txBody>
      </p:sp>
      <p:sp>
        <p:nvSpPr>
          <p:cNvPr id="35" name="Shape 26"/>
          <p:cNvSpPr/>
          <p:nvPr/>
        </p:nvSpPr>
        <p:spPr>
          <a:xfrm>
            <a:off x="812800" y="3937000"/>
            <a:ext cx="3422650" cy="825500"/>
          </a:xfrm>
          <a:prstGeom prst="roundRect">
            <a:avLst>
              <a:gd name="adj" fmla="val 8862"/>
            </a:avLst>
          </a:prstGeom>
          <a:solidFill>
            <a:srgbClr val="EEF0F6"/>
          </a:solidFill>
          <a:ln/>
        </p:spPr>
      </p:sp>
      <p:sp>
        <p:nvSpPr>
          <p:cNvPr id="36" name="Text 27"/>
          <p:cNvSpPr txBox="1"/>
          <p:nvPr/>
        </p:nvSpPr>
        <p:spPr>
          <a:xfrm>
            <a:off x="990600" y="4089400"/>
            <a:ext cx="3067050" cy="190500"/>
          </a:xfrm>
          <a:prstGeom prst="rect">
            <a:avLst/>
          </a:prstGeom>
          <a:noFill/>
          <a:ln/>
        </p:spPr>
        <p:txBody>
          <a:bodyPr wrap="square" lIns="0" tIns="0" rIns="0" bIns="0" rtlCol="0" anchor="t"/>
          <a:lstStyle/>
          <a:p>
            <a:pPr indent="0" marL="0">
              <a:buNone/>
            </a:pPr>
            <a:r>
              <a:rPr lang="en-US" sz="1200" b="1" spc="100" kern="0" dirty="0">
                <a:solidFill>
                  <a:srgbClr val="8E0000"/>
                </a:solidFill>
                <a:latin typeface="Calibri" pitchFamily="34" charset="0"/>
                <a:ea typeface="Calibri" pitchFamily="34" charset="-122"/>
                <a:cs typeface="Calibri" pitchFamily="34" charset="-120"/>
              </a:rPr>
              <a:t>UI LIBRARY</a:t>
            </a:r>
            <a:endParaRPr lang="en-US" sz="1200" dirty="0"/>
          </a:p>
        </p:txBody>
      </p:sp>
      <p:sp>
        <p:nvSpPr>
          <p:cNvPr id="37" name="Text 28"/>
          <p:cNvSpPr txBox="1"/>
          <p:nvPr/>
        </p:nvSpPr>
        <p:spPr>
          <a:xfrm>
            <a:off x="990600" y="4318000"/>
            <a:ext cx="3067050" cy="317500"/>
          </a:xfrm>
          <a:prstGeom prst="rect">
            <a:avLst/>
          </a:prstGeom>
          <a:noFill/>
          <a:ln/>
        </p:spPr>
        <p:txBody>
          <a:bodyPr wrap="square" lIns="0" tIns="0" rIns="0" bIns="0" rtlCol="0" anchor="t"/>
          <a:lstStyle/>
          <a:p>
            <a:pPr indent="0" marL="0">
              <a:buNone/>
            </a:pPr>
            <a:r>
              <a:rPr lang="en-US" sz="1400" dirty="0">
                <a:solidFill>
                  <a:srgbClr val="3D4458"/>
                </a:solidFill>
                <a:latin typeface="Calibri" pitchFamily="34" charset="0"/>
                <a:ea typeface="Calibri" pitchFamily="34" charset="-122"/>
                <a:cs typeface="Calibri" pitchFamily="34" charset="-120"/>
              </a:rPr>
              <a:t>Custom CSS (style.css), no UI framework</a:t>
            </a:r>
            <a:endParaRPr lang="en-US" sz="1400" dirty="0"/>
          </a:p>
        </p:txBody>
      </p:sp>
      <p:sp>
        <p:nvSpPr>
          <p:cNvPr id="38" name="Shape 29"/>
          <p:cNvSpPr/>
          <p:nvPr/>
        </p:nvSpPr>
        <p:spPr>
          <a:xfrm>
            <a:off x="4387850" y="3937000"/>
            <a:ext cx="3422650" cy="825500"/>
          </a:xfrm>
          <a:prstGeom prst="roundRect">
            <a:avLst>
              <a:gd name="adj" fmla="val 8862"/>
            </a:avLst>
          </a:prstGeom>
          <a:solidFill>
            <a:srgbClr val="EEF0F6"/>
          </a:solidFill>
          <a:ln/>
        </p:spPr>
      </p:sp>
      <p:sp>
        <p:nvSpPr>
          <p:cNvPr id="39" name="Text 30"/>
          <p:cNvSpPr txBox="1"/>
          <p:nvPr/>
        </p:nvSpPr>
        <p:spPr>
          <a:xfrm>
            <a:off x="4565650" y="4089400"/>
            <a:ext cx="3067050" cy="190500"/>
          </a:xfrm>
          <a:prstGeom prst="rect">
            <a:avLst/>
          </a:prstGeom>
          <a:noFill/>
          <a:ln/>
        </p:spPr>
        <p:txBody>
          <a:bodyPr wrap="square" lIns="0" tIns="0" rIns="0" bIns="0" rtlCol="0" anchor="t"/>
          <a:lstStyle/>
          <a:p>
            <a:pPr indent="0" marL="0">
              <a:buNone/>
            </a:pPr>
            <a:r>
              <a:rPr lang="en-US" sz="1200" b="1" spc="100" kern="0" dirty="0">
                <a:solidFill>
                  <a:srgbClr val="8E0000"/>
                </a:solidFill>
                <a:latin typeface="Calibri" pitchFamily="34" charset="0"/>
                <a:ea typeface="Calibri" pitchFamily="34" charset="-122"/>
                <a:cs typeface="Calibri" pitchFamily="34" charset="-120"/>
              </a:rPr>
              <a:t>TOOLS</a:t>
            </a:r>
            <a:endParaRPr lang="en-US" sz="1200" dirty="0"/>
          </a:p>
        </p:txBody>
      </p:sp>
      <p:sp>
        <p:nvSpPr>
          <p:cNvPr id="40" name="Text 31"/>
          <p:cNvSpPr txBox="1"/>
          <p:nvPr/>
        </p:nvSpPr>
        <p:spPr>
          <a:xfrm>
            <a:off x="4565650" y="4318000"/>
            <a:ext cx="3067050" cy="317500"/>
          </a:xfrm>
          <a:prstGeom prst="rect">
            <a:avLst/>
          </a:prstGeom>
          <a:noFill/>
          <a:ln/>
        </p:spPr>
        <p:txBody>
          <a:bodyPr wrap="square" lIns="0" tIns="0" rIns="0" bIns="0" rtlCol="0" anchor="t"/>
          <a:lstStyle/>
          <a:p>
            <a:pPr indent="0" marL="0">
              <a:buNone/>
            </a:pPr>
            <a:r>
              <a:rPr lang="en-US" sz="1400" dirty="0">
                <a:solidFill>
                  <a:srgbClr val="3D4458"/>
                </a:solidFill>
                <a:latin typeface="Calibri" pitchFamily="34" charset="0"/>
                <a:ea typeface="Calibri" pitchFamily="34" charset="-122"/>
                <a:cs typeface="Calibri" pitchFamily="34" charset="-120"/>
              </a:rPr>
              <a:t>VS Code, Live Server, Chrome DevTools, tsc</a:t>
            </a:r>
            <a:endParaRPr lang="en-US" sz="1400" dirty="0"/>
          </a:p>
        </p:txBody>
      </p:sp>
      <p:sp>
        <p:nvSpPr>
          <p:cNvPr id="41" name="Shape 32"/>
          <p:cNvSpPr/>
          <p:nvPr/>
        </p:nvSpPr>
        <p:spPr>
          <a:xfrm>
            <a:off x="7962900" y="3937000"/>
            <a:ext cx="3422650" cy="825500"/>
          </a:xfrm>
          <a:prstGeom prst="roundRect">
            <a:avLst>
              <a:gd name="adj" fmla="val 8862"/>
            </a:avLst>
          </a:prstGeom>
          <a:solidFill>
            <a:srgbClr val="EEF0F6"/>
          </a:solidFill>
          <a:ln/>
        </p:spPr>
      </p:sp>
      <p:sp>
        <p:nvSpPr>
          <p:cNvPr id="42" name="Text 33"/>
          <p:cNvSpPr txBox="1"/>
          <p:nvPr/>
        </p:nvSpPr>
        <p:spPr>
          <a:xfrm>
            <a:off x="8140700" y="4089400"/>
            <a:ext cx="3067050" cy="190500"/>
          </a:xfrm>
          <a:prstGeom prst="rect">
            <a:avLst/>
          </a:prstGeom>
          <a:noFill/>
          <a:ln/>
        </p:spPr>
        <p:txBody>
          <a:bodyPr wrap="square" lIns="0" tIns="0" rIns="0" bIns="0" rtlCol="0" anchor="t"/>
          <a:lstStyle/>
          <a:p>
            <a:pPr indent="0" marL="0">
              <a:buNone/>
            </a:pPr>
            <a:r>
              <a:rPr lang="en-US" sz="1200" b="1" spc="100" kern="0" dirty="0">
                <a:solidFill>
                  <a:srgbClr val="8E0000"/>
                </a:solidFill>
                <a:latin typeface="Calibri" pitchFamily="34" charset="0"/>
                <a:ea typeface="Calibri" pitchFamily="34" charset="-122"/>
                <a:cs typeface="Calibri" pitchFamily="34" charset="-120"/>
              </a:rPr>
              <a:t>ROUTER</a:t>
            </a:r>
            <a:endParaRPr lang="en-US" sz="1200" dirty="0"/>
          </a:p>
        </p:txBody>
      </p:sp>
      <p:sp>
        <p:nvSpPr>
          <p:cNvPr id="43" name="Text 34"/>
          <p:cNvSpPr txBox="1"/>
          <p:nvPr/>
        </p:nvSpPr>
        <p:spPr>
          <a:xfrm>
            <a:off x="8140700" y="4318000"/>
            <a:ext cx="3067050" cy="317500"/>
          </a:xfrm>
          <a:prstGeom prst="rect">
            <a:avLst/>
          </a:prstGeom>
          <a:noFill/>
          <a:ln/>
        </p:spPr>
        <p:txBody>
          <a:bodyPr wrap="square" lIns="0" tIns="0" rIns="0" bIns="0" rtlCol="0" anchor="t"/>
          <a:lstStyle/>
          <a:p>
            <a:pPr indent="0" marL="0">
              <a:buNone/>
            </a:pPr>
            <a:r>
              <a:rPr lang="en-US" sz="1400" dirty="0">
                <a:solidFill>
                  <a:srgbClr val="3D4458"/>
                </a:solidFill>
                <a:latin typeface="Calibri" pitchFamily="34" charset="0"/>
                <a:ea typeface="Calibri" pitchFamily="34" charset="-122"/>
                <a:cs typeface="Calibri" pitchFamily="34" charset="-120"/>
              </a:rPr>
              <a:t>Tabs switched with setTab() + ng-show</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LAB COVERAGE · WEEKS 1–14</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14 Weeks, One Website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778000"/>
          <a:ext cx="10570464" cy="914400"/>
        </p:xfrm>
        <a:graphic>
          <a:graphicData uri="http://schemas.openxmlformats.org/drawingml/2006/table">
            <a:tbl>
              <a:tblPr/>
              <a:tblGrid>
                <a:gridCol w="1188720"/>
                <a:gridCol w="5760720"/>
                <a:gridCol w="3621024"/>
              </a:tblGrid>
              <a:tr h="4445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Week</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built</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File(s)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W1–2</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Home, Login and Registration pages with HTML5 validation</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index, login, register.html</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W3</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Inline, internal and external CSS (shared style.css)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style.css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W4</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JavaScript validation: 5 checks on the registration form</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script.js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W5</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Menu catalogue + table-booking form</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menu.html</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W6</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Menu data in XML, validated by a DTD</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menu.xml, menu.dtd</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W8–10</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Fetch API: load text, parse JSON / XML, send POST</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fetch_*.html, booking_post.html</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W11</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TypeScript interfaces, a class and typed functions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menu.ts → menu.js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W12–14</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AngularJS SPA: binding, directives, forms, service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angular_app.html</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LAB COVERAGE · WEEKS 1–5</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Pages, Style &amp; Validation</a:t>
            </a:r>
            <a:endParaRPr lang="en-US" sz="3200" dirty="0"/>
          </a:p>
        </p:txBody>
      </p:sp>
      <p:sp>
        <p:nvSpPr>
          <p:cNvPr id="13" name="Shape 9"/>
          <p:cNvSpPr/>
          <p:nvPr/>
        </p:nvSpPr>
        <p:spPr>
          <a:xfrm>
            <a:off x="812800" y="4699000"/>
            <a:ext cx="3384550" cy="317500"/>
          </a:xfrm>
          <a:prstGeom prst="roundRect">
            <a:avLst>
              <a:gd name="adj" fmla="val 17280"/>
            </a:avLst>
          </a:prstGeom>
          <a:solidFill>
            <a:srgbClr val="002060"/>
          </a:solidFill>
          <a:ln/>
        </p:spPr>
      </p:sp>
      <p:sp>
        <p:nvSpPr>
          <p:cNvPr id="14" name="Text 10"/>
          <p:cNvSpPr txBox="1"/>
          <p:nvPr/>
        </p:nvSpPr>
        <p:spPr>
          <a:xfrm>
            <a:off x="81280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Registration: HTML5 + JS checks</a:t>
            </a:r>
            <a:endParaRPr lang="en-US" sz="1300" dirty="0"/>
          </a:p>
        </p:txBody>
      </p:sp>
      <p:sp>
        <p:nvSpPr>
          <p:cNvPr id="17" name="Shape 13"/>
          <p:cNvSpPr/>
          <p:nvPr/>
        </p:nvSpPr>
        <p:spPr>
          <a:xfrm>
            <a:off x="4400550" y="4699000"/>
            <a:ext cx="3384550" cy="317500"/>
          </a:xfrm>
          <a:prstGeom prst="roundRect">
            <a:avLst>
              <a:gd name="adj" fmla="val 17280"/>
            </a:avLst>
          </a:prstGeom>
          <a:solidFill>
            <a:srgbClr val="8E0000"/>
          </a:solidFill>
          <a:ln/>
        </p:spPr>
      </p:sp>
      <p:sp>
        <p:nvSpPr>
          <p:cNvPr id="18" name="Text 14"/>
          <p:cNvSpPr txBox="1"/>
          <p:nvPr/>
        </p:nvSpPr>
        <p:spPr>
          <a:xfrm>
            <a:off x="440055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Menu catalogue + booking</a:t>
            </a:r>
            <a:endParaRPr lang="en-US" sz="1300" dirty="0"/>
          </a:p>
        </p:txBody>
      </p:sp>
      <p:sp>
        <p:nvSpPr>
          <p:cNvPr id="19" name="Shape 15"/>
          <p:cNvSpPr/>
          <p:nvPr/>
        </p:nvSpPr>
        <p:spPr>
          <a:xfrm>
            <a:off x="7988300" y="1778000"/>
            <a:ext cx="3390900" cy="3238500"/>
          </a:xfrm>
          <a:prstGeom prst="roundRect">
            <a:avLst>
              <a:gd name="adj" fmla="val 2259"/>
            </a:avLst>
          </a:prstGeom>
          <a:solidFill>
            <a:srgbClr val="002060"/>
          </a:solidFill>
          <a:ln/>
        </p:spPr>
      </p:sp>
      <p:sp>
        <p:nvSpPr>
          <p:cNvPr id="20" name="Text 16"/>
          <p:cNvSpPr txBox="1"/>
          <p:nvPr/>
        </p:nvSpPr>
        <p:spPr>
          <a:xfrm>
            <a:off x="8216900" y="1981200"/>
            <a:ext cx="2921000" cy="254000"/>
          </a:xfrm>
          <a:prstGeom prst="rect">
            <a:avLst/>
          </a:prstGeom>
          <a:noFill/>
          <a:ln/>
        </p:spPr>
        <p:txBody>
          <a:bodyPr wrap="square" lIns="0" tIns="0" rIns="0" bIns="0" rtlCol="0" anchor="t"/>
          <a:lstStyle/>
          <a:p>
            <a:pPr indent="0" marL="0">
              <a:buNone/>
            </a:pPr>
            <a:r>
              <a:rPr lang="en-US" sz="1600" b="1" dirty="0">
                <a:solidFill>
                  <a:srgbClr val="F2C4C4"/>
                </a:solidFill>
                <a:latin typeface="Calibri" pitchFamily="34" charset="0"/>
                <a:ea typeface="Calibri" pitchFamily="34" charset="-122"/>
                <a:cs typeface="Calibri" pitchFamily="34" charset="-120"/>
              </a:rPr>
              <a:t>What we built</a:t>
            </a:r>
            <a:endParaRPr lang="en-US" sz="1600" dirty="0"/>
          </a:p>
        </p:txBody>
      </p:sp>
      <p:pic>
        <p:nvPicPr>
          <p:cNvPr id="21" name="Image 1" descr="preencoded.png">    </p:cNvPr>
          <p:cNvPicPr>
            <a:picLocks noChangeAspect="1"/>
          </p:cNvPicPr>
          <p:nvPr/>
        </p:nvPicPr>
        <p:blipFill>
          <a:blip r:embed="rId2"/>
          <a:stretch>
            <a:fillRect/>
          </a:stretch>
        </p:blipFill>
        <p:spPr>
          <a:xfrm>
            <a:off x="8216900" y="2425700"/>
            <a:ext cx="228600" cy="228600"/>
          </a:xfrm>
          <a:prstGeom prst="rect">
            <a:avLst/>
          </a:prstGeom>
        </p:spPr>
      </p:pic>
      <p:sp>
        <p:nvSpPr>
          <p:cNvPr id="22" name="Text 17"/>
          <p:cNvSpPr txBox="1"/>
          <p:nvPr/>
        </p:nvSpPr>
        <p:spPr>
          <a:xfrm>
            <a:off x="8547100" y="24130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Semantic pages, shared nav</a:t>
            </a:r>
            <a:endParaRPr lang="en-US" sz="1400" dirty="0"/>
          </a:p>
        </p:txBody>
      </p:sp>
      <p:pic>
        <p:nvPicPr>
          <p:cNvPr id="23" name="Image 2" descr="preencoded.png">    </p:cNvPr>
          <p:cNvPicPr>
            <a:picLocks noChangeAspect="1"/>
          </p:cNvPicPr>
          <p:nvPr/>
        </p:nvPicPr>
        <p:blipFill>
          <a:blip r:embed="rId3"/>
          <a:stretch>
            <a:fillRect/>
          </a:stretch>
        </p:blipFill>
        <p:spPr>
          <a:xfrm>
            <a:off x="8216900" y="2984500"/>
            <a:ext cx="228600" cy="228600"/>
          </a:xfrm>
          <a:prstGeom prst="rect">
            <a:avLst/>
          </a:prstGeom>
        </p:spPr>
      </p:pic>
      <p:sp>
        <p:nvSpPr>
          <p:cNvPr id="24" name="Text 18"/>
          <p:cNvSpPr txBox="1"/>
          <p:nvPr/>
        </p:nvSpPr>
        <p:spPr>
          <a:xfrm>
            <a:off x="8547100" y="29718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3 CSS types on every page</a:t>
            </a:r>
            <a:endParaRPr lang="en-US" sz="1400" dirty="0"/>
          </a:p>
        </p:txBody>
      </p:sp>
      <p:pic>
        <p:nvPicPr>
          <p:cNvPr id="25" name="Image 3" descr="preencoded.png">    </p:cNvPr>
          <p:cNvPicPr>
            <a:picLocks noChangeAspect="1"/>
          </p:cNvPicPr>
          <p:nvPr/>
        </p:nvPicPr>
        <p:blipFill>
          <a:blip r:embed="rId4"/>
          <a:stretch>
            <a:fillRect/>
          </a:stretch>
        </p:blipFill>
        <p:spPr>
          <a:xfrm>
            <a:off x="8216900" y="3543300"/>
            <a:ext cx="228600" cy="228600"/>
          </a:xfrm>
          <a:prstGeom prst="rect">
            <a:avLst/>
          </a:prstGeom>
        </p:spPr>
      </p:pic>
      <p:sp>
        <p:nvSpPr>
          <p:cNvPr id="26" name="Text 19"/>
          <p:cNvSpPr txBox="1"/>
          <p:nvPr/>
        </p:nvSpPr>
        <p:spPr>
          <a:xfrm>
            <a:off x="8547100" y="35306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HTML5 + 5 JS validations</a:t>
            </a:r>
            <a:endParaRPr lang="en-US" sz="1400" dirty="0"/>
          </a:p>
        </p:txBody>
      </p:sp>
      <p:pic>
        <p:nvPicPr>
          <p:cNvPr id="27" name="Image 4" descr="preencoded.png">    </p:cNvPr>
          <p:cNvPicPr>
            <a:picLocks noChangeAspect="1"/>
          </p:cNvPicPr>
          <p:nvPr/>
        </p:nvPicPr>
        <p:blipFill>
          <a:blip r:embed="rId5"/>
          <a:stretch>
            <a:fillRect/>
          </a:stretch>
        </p:blipFill>
        <p:spPr>
          <a:xfrm>
            <a:off x="8216900" y="4102100"/>
            <a:ext cx="228600" cy="228600"/>
          </a:xfrm>
          <a:prstGeom prst="rect">
            <a:avLst/>
          </a:prstGeom>
        </p:spPr>
      </p:pic>
      <p:sp>
        <p:nvSpPr>
          <p:cNvPr id="28" name="Text 20"/>
          <p:cNvSpPr txBox="1"/>
          <p:nvPr/>
        </p:nvSpPr>
        <p:spPr>
          <a:xfrm>
            <a:off x="8547100" y="40894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Booking form with alerts</a:t>
            </a:r>
            <a:endParaRPr lang="en-US" sz="1400" dirty="0"/>
          </a:p>
        </p:txBody>
      </p:sp>
      <p:pic>
        <p:nvPicPr>
          <p:cNvPr id="29" name="Screenshot register_validation" descr="register_validation.png"/>
          <p:cNvPicPr>
            <a:picLocks noChangeAspect="1"/>
          </p:cNvPicPr>
          <p:nvPr/>
        </p:nvPicPr>
        <p:blipFill>
          <a:blip r:embed="rId7"/>
          <a:stretch>
            <a:fillRect/>
          </a:stretch>
        </p:blipFill>
        <p:spPr>
          <a:xfrm>
            <a:off x="812800" y="1778000"/>
            <a:ext cx="3384550" cy="2794000"/>
          </a:xfrm>
          <a:prstGeom prst="rect">
            <a:avLst/>
          </a:prstGeom>
          <a:ln w="9525">
            <a:solidFill>
              <a:srgbClr val="C9CEDB"/>
            </a:solidFill>
          </a:ln>
        </p:spPr>
      </p:pic>
      <p:pic>
        <p:nvPicPr>
          <p:cNvPr id="30" name="Screenshot menu_catalogue" descr="menu_catalogue.png"/>
          <p:cNvPicPr>
            <a:picLocks noChangeAspect="1"/>
          </p:cNvPicPr>
          <p:nvPr/>
        </p:nvPicPr>
        <p:blipFill>
          <a:blip r:embed="rId8"/>
          <a:stretch>
            <a:fillRect/>
          </a:stretch>
        </p:blipFill>
        <p:spPr>
          <a:xfrm>
            <a:off x="4400550" y="1778000"/>
            <a:ext cx="3384550" cy="2794000"/>
          </a:xfrm>
          <a:prstGeom prst="rect">
            <a:avLst/>
          </a:prstGeom>
          <a:ln w="9525">
            <a:solidFill>
              <a:srgbClr val="C9CEDB"/>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LAB COVERAGE · WEEKS 6, 8–10</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XML, DTD &amp; the Fetch API</a:t>
            </a:r>
            <a:endParaRPr lang="en-US" sz="3200" dirty="0"/>
          </a:p>
        </p:txBody>
      </p:sp>
      <p:sp>
        <p:nvSpPr>
          <p:cNvPr id="13" name="Shape 9"/>
          <p:cNvSpPr/>
          <p:nvPr/>
        </p:nvSpPr>
        <p:spPr>
          <a:xfrm>
            <a:off x="812800" y="4699000"/>
            <a:ext cx="3384550" cy="317500"/>
          </a:xfrm>
          <a:prstGeom prst="roundRect">
            <a:avLst>
              <a:gd name="adj" fmla="val 17280"/>
            </a:avLst>
          </a:prstGeom>
          <a:solidFill>
            <a:srgbClr val="002060"/>
          </a:solidFill>
          <a:ln/>
        </p:spPr>
      </p:sp>
      <p:sp>
        <p:nvSpPr>
          <p:cNvPr id="14" name="Text 10"/>
          <p:cNvSpPr txBox="1"/>
          <p:nvPr/>
        </p:nvSpPr>
        <p:spPr>
          <a:xfrm>
            <a:off x="81280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menu.xml parsed with DOMParser</a:t>
            </a:r>
            <a:endParaRPr lang="en-US" sz="1300" dirty="0"/>
          </a:p>
        </p:txBody>
      </p:sp>
      <p:sp>
        <p:nvSpPr>
          <p:cNvPr id="17" name="Shape 13"/>
          <p:cNvSpPr/>
          <p:nvPr/>
        </p:nvSpPr>
        <p:spPr>
          <a:xfrm>
            <a:off x="4400550" y="4699000"/>
            <a:ext cx="3384550" cy="317500"/>
          </a:xfrm>
          <a:prstGeom prst="roundRect">
            <a:avLst>
              <a:gd name="adj" fmla="val 17280"/>
            </a:avLst>
          </a:prstGeom>
          <a:solidFill>
            <a:srgbClr val="8E0000"/>
          </a:solidFill>
          <a:ln/>
        </p:spPr>
      </p:sp>
      <p:sp>
        <p:nvSpPr>
          <p:cNvPr id="18" name="Text 14"/>
          <p:cNvSpPr txBox="1"/>
          <p:nvPr/>
        </p:nvSpPr>
        <p:spPr>
          <a:xfrm>
            <a:off x="440055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 → 201 Created</a:t>
            </a:r>
            <a:endParaRPr lang="en-US" sz="1300" dirty="0"/>
          </a:p>
        </p:txBody>
      </p:sp>
      <p:sp>
        <p:nvSpPr>
          <p:cNvPr id="19" name="Shape 15"/>
          <p:cNvSpPr/>
          <p:nvPr/>
        </p:nvSpPr>
        <p:spPr>
          <a:xfrm>
            <a:off x="7988300" y="1778000"/>
            <a:ext cx="3390900" cy="3238500"/>
          </a:xfrm>
          <a:prstGeom prst="roundRect">
            <a:avLst>
              <a:gd name="adj" fmla="val 2259"/>
            </a:avLst>
          </a:prstGeom>
          <a:solidFill>
            <a:srgbClr val="002060"/>
          </a:solidFill>
          <a:ln/>
        </p:spPr>
      </p:sp>
      <p:sp>
        <p:nvSpPr>
          <p:cNvPr id="20" name="Text 16"/>
          <p:cNvSpPr txBox="1"/>
          <p:nvPr/>
        </p:nvSpPr>
        <p:spPr>
          <a:xfrm>
            <a:off x="8216900" y="1981200"/>
            <a:ext cx="2921000" cy="254000"/>
          </a:xfrm>
          <a:prstGeom prst="rect">
            <a:avLst/>
          </a:prstGeom>
          <a:noFill/>
          <a:ln/>
        </p:spPr>
        <p:txBody>
          <a:bodyPr wrap="square" lIns="0" tIns="0" rIns="0" bIns="0" rtlCol="0" anchor="t"/>
          <a:lstStyle/>
          <a:p>
            <a:pPr indent="0" marL="0">
              <a:buNone/>
            </a:pPr>
            <a:r>
              <a:rPr lang="en-US" sz="1600" b="1" dirty="0">
                <a:solidFill>
                  <a:srgbClr val="F2C4C4"/>
                </a:solidFill>
                <a:latin typeface="Calibri" pitchFamily="34" charset="0"/>
                <a:ea typeface="Calibri" pitchFamily="34" charset="-122"/>
                <a:cs typeface="Calibri" pitchFamily="34" charset="-120"/>
              </a:rPr>
              <a:t>What we built</a:t>
            </a:r>
            <a:endParaRPr lang="en-US" sz="1600" dirty="0"/>
          </a:p>
        </p:txBody>
      </p:sp>
      <p:pic>
        <p:nvPicPr>
          <p:cNvPr id="21" name="Image 1" descr="preencoded.png">    </p:cNvPr>
          <p:cNvPicPr>
            <a:picLocks noChangeAspect="1"/>
          </p:cNvPicPr>
          <p:nvPr/>
        </p:nvPicPr>
        <p:blipFill>
          <a:blip r:embed="rId2"/>
          <a:stretch>
            <a:fillRect/>
          </a:stretch>
        </p:blipFill>
        <p:spPr>
          <a:xfrm>
            <a:off x="8216900" y="2425700"/>
            <a:ext cx="228600" cy="228600"/>
          </a:xfrm>
          <a:prstGeom prst="rect">
            <a:avLst/>
          </a:prstGeom>
        </p:spPr>
      </p:pic>
      <p:sp>
        <p:nvSpPr>
          <p:cNvPr id="22" name="Text 17"/>
          <p:cNvSpPr txBox="1"/>
          <p:nvPr/>
        </p:nvSpPr>
        <p:spPr>
          <a:xfrm>
            <a:off x="8547100" y="24130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DTD rejects broken XML</a:t>
            </a:r>
            <a:endParaRPr lang="en-US" sz="1400" dirty="0"/>
          </a:p>
        </p:txBody>
      </p:sp>
      <p:pic>
        <p:nvPicPr>
          <p:cNvPr id="23" name="Image 2" descr="preencoded.png">    </p:cNvPr>
          <p:cNvPicPr>
            <a:picLocks noChangeAspect="1"/>
          </p:cNvPicPr>
          <p:nvPr/>
        </p:nvPicPr>
        <p:blipFill>
          <a:blip r:embed="rId3"/>
          <a:stretch>
            <a:fillRect/>
          </a:stretch>
        </p:blipFill>
        <p:spPr>
          <a:xfrm>
            <a:off x="8216900" y="2984500"/>
            <a:ext cx="228600" cy="228600"/>
          </a:xfrm>
          <a:prstGeom prst="rect">
            <a:avLst/>
          </a:prstGeom>
        </p:spPr>
      </p:pic>
      <p:sp>
        <p:nvSpPr>
          <p:cNvPr id="24" name="Text 18"/>
          <p:cNvSpPr txBox="1"/>
          <p:nvPr/>
        </p:nvSpPr>
        <p:spPr>
          <a:xfrm>
            <a:off x="8547100" y="29718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fetch() loads a text file</a:t>
            </a:r>
            <a:endParaRPr lang="en-US" sz="1400" dirty="0"/>
          </a:p>
        </p:txBody>
      </p:sp>
      <p:pic>
        <p:nvPicPr>
          <p:cNvPr id="25" name="Image 3" descr="preencoded.png">    </p:cNvPr>
          <p:cNvPicPr>
            <a:picLocks noChangeAspect="1"/>
          </p:cNvPicPr>
          <p:nvPr/>
        </p:nvPicPr>
        <p:blipFill>
          <a:blip r:embed="rId4"/>
          <a:stretch>
            <a:fillRect/>
          </a:stretch>
        </p:blipFill>
        <p:spPr>
          <a:xfrm>
            <a:off x="8216900" y="3543300"/>
            <a:ext cx="228600" cy="228600"/>
          </a:xfrm>
          <a:prstGeom prst="rect">
            <a:avLst/>
          </a:prstGeom>
        </p:spPr>
      </p:pic>
      <p:sp>
        <p:nvSpPr>
          <p:cNvPr id="26" name="Text 19"/>
          <p:cNvSpPr txBox="1"/>
          <p:nvPr/>
        </p:nvSpPr>
        <p:spPr>
          <a:xfrm>
            <a:off x="8547100" y="35306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JSON + XML parsed to tables</a:t>
            </a:r>
            <a:endParaRPr lang="en-US" sz="1400" dirty="0"/>
          </a:p>
        </p:txBody>
      </p:sp>
      <p:pic>
        <p:nvPicPr>
          <p:cNvPr id="27" name="Image 4" descr="preencoded.png">    </p:cNvPr>
          <p:cNvPicPr>
            <a:picLocks noChangeAspect="1"/>
          </p:cNvPicPr>
          <p:nvPr/>
        </p:nvPicPr>
        <p:blipFill>
          <a:blip r:embed="rId5"/>
          <a:stretch>
            <a:fillRect/>
          </a:stretch>
        </p:blipFill>
        <p:spPr>
          <a:xfrm>
            <a:off x="8216900" y="4102100"/>
            <a:ext cx="228600" cy="228600"/>
          </a:xfrm>
          <a:prstGeom prst="rect">
            <a:avLst/>
          </a:prstGeom>
        </p:spPr>
      </p:pic>
      <p:sp>
        <p:nvSpPr>
          <p:cNvPr id="28" name="Text 20"/>
          <p:cNvSpPr txBox="1"/>
          <p:nvPr/>
        </p:nvSpPr>
        <p:spPr>
          <a:xfrm>
            <a:off x="8547100" y="40894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POST returns 201 + id #101</a:t>
            </a:r>
            <a:endParaRPr lang="en-US" sz="1400" dirty="0"/>
          </a:p>
        </p:txBody>
      </p:sp>
      <p:pic>
        <p:nvPicPr>
          <p:cNvPr id="29" name="Screenshot fetch_xml" descr="fetch_xml.png"/>
          <p:cNvPicPr>
            <a:picLocks noChangeAspect="1"/>
          </p:cNvPicPr>
          <p:nvPr/>
        </p:nvPicPr>
        <p:blipFill>
          <a:blip r:embed="rId7"/>
          <a:stretch>
            <a:fillRect/>
          </a:stretch>
        </p:blipFill>
        <p:spPr>
          <a:xfrm>
            <a:off x="812800" y="1778000"/>
            <a:ext cx="3384550" cy="2794000"/>
          </a:xfrm>
          <a:prstGeom prst="rect">
            <a:avLst/>
          </a:prstGeom>
          <a:ln w="9525">
            <a:solidFill>
              <a:srgbClr val="C9CEDB"/>
            </a:solidFill>
          </a:ln>
        </p:spPr>
      </p:pic>
      <p:pic>
        <p:nvPicPr>
          <p:cNvPr id="30" name="Screenshot post_201" descr="post_201.png"/>
          <p:cNvPicPr>
            <a:picLocks noChangeAspect="1"/>
          </p:cNvPicPr>
          <p:nvPr/>
        </p:nvPicPr>
        <p:blipFill>
          <a:blip r:embed="rId8"/>
          <a:stretch>
            <a:fillRect/>
          </a:stretch>
        </p:blipFill>
        <p:spPr>
          <a:xfrm>
            <a:off x="4400550" y="1778000"/>
            <a:ext cx="3384550" cy="2794000"/>
          </a:xfrm>
          <a:prstGeom prst="rect">
            <a:avLst/>
          </a:prstGeom>
          <a:ln w="9525">
            <a:solidFill>
              <a:srgbClr val="C9CEDB"/>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LAB COVERAGE · WEEK 11</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TypeScript Classes &amp; Interfaces</a:t>
            </a:r>
            <a:endParaRPr lang="en-US" sz="3200" dirty="0"/>
          </a:p>
        </p:txBody>
      </p:sp>
      <p:sp>
        <p:nvSpPr>
          <p:cNvPr id="11" name="Text 7"/>
          <p:cNvSpPr txBox="1"/>
          <p:nvPr/>
        </p:nvSpPr>
        <p:spPr>
          <a:xfrm>
            <a:off x="812800" y="1803400"/>
            <a:ext cx="5080000" cy="2540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In our project</a:t>
            </a:r>
            <a:endParaRPr lang="en-US" sz="1600" dirty="0"/>
          </a:p>
        </p:txBody>
      </p:sp>
      <p:sp>
        <p:nvSpPr>
          <p:cNvPr id="12" name="Text 8"/>
          <p:cNvSpPr txBox="1"/>
          <p:nvPr/>
        </p:nvSpPr>
        <p:spPr>
          <a:xfrm>
            <a:off x="812800" y="2159000"/>
            <a:ext cx="5080000" cy="2540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Interfaces: MenuItem, TableBooking</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Class RestaurantMenu: private items, 4 typed methods</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Functions: formatCurrency(), createBookingSummary()</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Compiled by tsc to menu.js (0 type errors)</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Demo: 4 items, 2 starters, bill $22.98</a:t>
            </a:r>
            <a:endParaRPr lang="en-US" sz="1500" dirty="0"/>
          </a:p>
        </p:txBody>
      </p:sp>
      <p:sp>
        <p:nvSpPr>
          <p:cNvPr id="13" name="Shape 9"/>
          <p:cNvSpPr/>
          <p:nvPr/>
        </p:nvSpPr>
        <p:spPr>
          <a:xfrm>
            <a:off x="6197600" y="1803400"/>
            <a:ext cx="5181600" cy="3302000"/>
          </a:xfrm>
          <a:prstGeom prst="roundRect">
            <a:avLst>
              <a:gd name="adj" fmla="val 2215"/>
            </a:avLst>
          </a:prstGeom>
          <a:solidFill>
            <a:srgbClr val="0F1C3F"/>
          </a:solidFill>
          <a:ln/>
        </p:spPr>
      </p:sp>
      <p:sp>
        <p:nvSpPr>
          <p:cNvPr id="14" name="Text 10"/>
          <p:cNvSpPr txBox="1"/>
          <p:nvPr/>
        </p:nvSpPr>
        <p:spPr>
          <a:xfrm>
            <a:off x="6375400" y="1943100"/>
            <a:ext cx="4826000" cy="3022600"/>
          </a:xfrm>
          <a:prstGeom prst="rect">
            <a:avLst/>
          </a:prstGeom>
          <a:noFill/>
          <a:ln/>
        </p:spPr>
        <p:txBody>
          <a:bodyPr wrap="square" lIns="0" tIns="0" rIns="0" bIns="0" rtlCol="0" anchor="t"/>
          <a:lstStyle/>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interface MenuItem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id: number; name: string;</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category: string; price: number;</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isSpicy: boolean;</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class RestaurantMenu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private items: MenuItem[];</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public filterByCategory(c: string): MenuItem[]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return this.items.filter(i =&gt; i.category === c);</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function formatCurrency(amount: number): string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return "$" + amount.toFixed(2);</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p:txBody>
      </p:sp>
      <p:sp>
        <p:nvSpPr>
          <p:cNvPr id="15" name="Text 11"/>
          <p:cNvSpPr txBox="1"/>
          <p:nvPr/>
        </p:nvSpPr>
        <p:spPr>
          <a:xfrm>
            <a:off x="6197600" y="5194300"/>
            <a:ext cx="5181600" cy="215900"/>
          </a:xfrm>
          <a:prstGeom prst="rect">
            <a:avLst/>
          </a:prstGeom>
          <a:noFill/>
          <a:ln/>
        </p:spPr>
        <p:txBody>
          <a:bodyPr wrap="square" lIns="0" tIns="0" rIns="0" bIns="0" rtlCol="0" anchor="t"/>
          <a:lstStyle/>
          <a:p>
            <a:pPr indent="0" marL="0">
              <a:buNone/>
            </a:pPr>
            <a:r>
              <a:rPr lang="en-US" sz="1200" dirty="0">
                <a:solidFill>
                  <a:srgbClr val="5A6175"/>
                </a:solidFill>
                <a:latin typeface="Calibri" pitchFamily="34" charset="0"/>
                <a:ea typeface="Calibri" pitchFamily="34" charset="-122"/>
                <a:cs typeface="Calibri" pitchFamily="34" charset="-120"/>
              </a:rPr>
              <a:t>Simplified from menu.ts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UNIT V · ANGULAR</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Project Mapping to Unit V Topics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778000"/>
          <a:ext cx="10570464" cy="914400"/>
        </p:xfrm>
        <a:graphic>
          <a:graphicData uri="http://schemas.openxmlformats.org/drawingml/2006/table">
            <a:tbl>
              <a:tblPr/>
              <a:tblGrid>
                <a:gridCol w="2834640"/>
                <a:gridCol w="6035040"/>
                <a:gridCol w="1700784"/>
              </a:tblGrid>
              <a:tr h="4445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Unit V Topic</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 used in our project</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Member</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Angular CLI &amp; Project Setup</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Not used: AngularJS 1.8.2 loaded from a CDN &lt;script&gt; tag</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Components &amp; Modules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Module kaboomApp + RestaurantController with its view</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Templates &amp; Data Binding</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 }} interpolation, ng-model two-way binding (search, form)</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Directives &amp; Pipes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ng-repeat, ng-show, ng-if, ng-class, ng-disabled; filters: filter, date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Services &amp; Dependency Injection</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BookingService, injected into RestaurantController</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Lifecycle Hooks &amp; HTTP Client</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No ngOnInit (controller runs on load); HTTP via Fetch API, Weeks 8–10</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Template Driven &amp; Reactive Forms</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Template-driven booking form ($dirty, $invalid, ng-disabled); no reactive form</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444500">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Routing</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Tabs switched with setTab() + ng-show (no router module)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400" dirty="0">
                          <a:solidFill>
                            <a:srgbClr val="00206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UNIT V · CLI, COMPONENTS, TEMPLATES, DIRECTIVES &amp; PIPES</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Components &amp; Data Binding</a:t>
            </a:r>
            <a:endParaRPr lang="en-US" sz="3200" dirty="0"/>
          </a:p>
        </p:txBody>
      </p:sp>
      <p:sp>
        <p:nvSpPr>
          <p:cNvPr id="11" name="Text 7"/>
          <p:cNvSpPr txBox="1"/>
          <p:nvPr/>
        </p:nvSpPr>
        <p:spPr>
          <a:xfrm>
            <a:off x="812800" y="1803400"/>
            <a:ext cx="5080000" cy="254000"/>
          </a:xfrm>
          <a:prstGeom prst="rect">
            <a:avLst/>
          </a:prstGeom>
          <a:noFill/>
          <a:ln/>
        </p:spPr>
        <p:txBody>
          <a:bodyPr wrap="square" lIns="0" tIns="0" rIns="0" bIns="0" rtlCol="0" anchor="t"/>
          <a:lstStyle/>
          <a:p>
            <a:pPr indent="0" marL="0">
              <a:buNone/>
            </a:pPr>
            <a:r>
              <a:rPr lang="en-US" sz="1500" b="1" dirty="0">
                <a:solidFill>
                  <a:srgbClr val="002060"/>
                </a:solidFill>
                <a:latin typeface="Calibri" pitchFamily="34" charset="0"/>
                <a:ea typeface="Calibri" pitchFamily="34" charset="-122"/>
                <a:cs typeface="Calibri" pitchFamily="34" charset="-120"/>
              </a:rPr>
              <a:t>Components &amp; Modules in our project</a:t>
            </a:r>
            <a:endParaRPr lang="en-US" sz="1500" dirty="0"/>
          </a:p>
        </p:txBody>
      </p:sp>
      <p:sp>
        <p:nvSpPr>
          <p:cNvPr id="12" name="Text 8"/>
          <p:cNvSpPr txBox="1"/>
          <p:nvPr/>
        </p:nvSpPr>
        <p:spPr>
          <a:xfrm>
            <a:off x="812800" y="2133600"/>
            <a:ext cx="5080000" cy="13335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458"/>
                </a:solidFill>
                <a:latin typeface="Calibri" pitchFamily="34" charset="0"/>
                <a:ea typeface="Calibri" pitchFamily="34" charset="-122"/>
                <a:cs typeface="Calibri" pitchFamily="34" charset="-120"/>
              </a:rPr>
              <a:t>Loaded from a CDN script (no ng new / CLI)</a:t>
            </a:r>
            <a:endParaRPr lang="en-US" sz="1400" dirty="0"/>
          </a:p>
          <a:p>
            <a:pPr marL="342900" indent="-342900">
              <a:spcAft>
                <a:spcPts val="800"/>
              </a:spcAft>
              <a:buSzPct val="100000"/>
              <a:buChar char="•"/>
            </a:pPr>
            <a:r>
              <a:rPr lang="en-US" sz="1400" dirty="0">
                <a:solidFill>
                  <a:srgbClr val="3D4458"/>
                </a:solidFill>
                <a:latin typeface="Calibri" pitchFamily="34" charset="0"/>
                <a:ea typeface="Calibri" pitchFamily="34" charset="-122"/>
                <a:cs typeface="Calibri" pitchFamily="34" charset="-120"/>
              </a:rPr>
              <a:t>Module: kaboomApp · Controller: RestaurantController</a:t>
            </a:r>
            <a:endParaRPr lang="en-US" sz="1400" dirty="0"/>
          </a:p>
          <a:p>
            <a:pPr marL="342900" indent="-342900">
              <a:spcAft>
                <a:spcPts val="800"/>
              </a:spcAft>
              <a:buSzPct val="100000"/>
              <a:buChar char="•"/>
            </a:pPr>
            <a:r>
              <a:rPr lang="en-US" sz="1400" dirty="0">
                <a:solidFill>
                  <a:srgbClr val="3D4458"/>
                </a:solidFill>
                <a:latin typeface="Calibri" pitchFamily="34" charset="0"/>
                <a:ea typeface="Calibri" pitchFamily="34" charset="-122"/>
                <a:cs typeface="Calibri" pitchFamily="34" charset="-120"/>
              </a:rPr>
              <a:t>Views: Menu, Book a Table, Reservations tabs</a:t>
            </a:r>
            <a:endParaRPr lang="en-US" sz="1400" dirty="0"/>
          </a:p>
        </p:txBody>
      </p:sp>
      <p:sp>
        <p:nvSpPr>
          <p:cNvPr id="13" name="Shape 9"/>
          <p:cNvSpPr/>
          <p:nvPr/>
        </p:nvSpPr>
        <p:spPr>
          <a:xfrm>
            <a:off x="6197600" y="1803400"/>
            <a:ext cx="5181600" cy="1714500"/>
          </a:xfrm>
          <a:prstGeom prst="roundRect">
            <a:avLst>
              <a:gd name="adj" fmla="val 4267"/>
            </a:avLst>
          </a:prstGeom>
          <a:solidFill>
            <a:srgbClr val="0F1C3F"/>
          </a:solidFill>
          <a:ln/>
        </p:spPr>
      </p:sp>
      <p:sp>
        <p:nvSpPr>
          <p:cNvPr id="14" name="Text 10"/>
          <p:cNvSpPr txBox="1"/>
          <p:nvPr/>
        </p:nvSpPr>
        <p:spPr>
          <a:xfrm>
            <a:off x="6375400" y="1943100"/>
            <a:ext cx="4826000" cy="1435100"/>
          </a:xfrm>
          <a:prstGeom prst="rect">
            <a:avLst/>
          </a:prstGeom>
          <a:noFill/>
          <a:ln/>
        </p:spPr>
        <p:txBody>
          <a:bodyPr wrap="square" lIns="0" tIns="0" rIns="0" bIns="0" rtlCol="0" anchor="t"/>
          <a:lstStyle/>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angular_app.html</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var app = angular.module("kaboomApp",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app.controller("RestaurantController",</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function($scope, BookingService)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$scope.menuItems = [ /* 6 dishes */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$scope.bookings = BookingService.getAll();</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p:txBody>
      </p:sp>
      <p:sp>
        <p:nvSpPr>
          <p:cNvPr id="15" name="Shape 11"/>
          <p:cNvSpPr/>
          <p:nvPr/>
        </p:nvSpPr>
        <p:spPr>
          <a:xfrm>
            <a:off x="812800" y="3810000"/>
            <a:ext cx="3422650" cy="1460500"/>
          </a:xfrm>
          <a:prstGeom prst="roundRect">
            <a:avLst>
              <a:gd name="adj" fmla="val 5009"/>
            </a:avLst>
          </a:prstGeom>
          <a:solidFill>
            <a:srgbClr val="FFFFFF"/>
          </a:solidFill>
          <a:ln w="12700">
            <a:solidFill>
              <a:srgbClr val="DDE1EA"/>
            </a:solidFill>
            <a:prstDash val="solid"/>
          </a:ln>
        </p:spPr>
      </p:sp>
      <p:sp>
        <p:nvSpPr>
          <p:cNvPr id="16" name="Text 12"/>
          <p:cNvSpPr txBox="1"/>
          <p:nvPr/>
        </p:nvSpPr>
        <p:spPr>
          <a:xfrm>
            <a:off x="1016000" y="3987800"/>
            <a:ext cx="3016250" cy="254000"/>
          </a:xfrm>
          <a:prstGeom prst="rect">
            <a:avLst/>
          </a:prstGeom>
          <a:noFill/>
          <a:ln/>
        </p:spPr>
        <p:txBody>
          <a:bodyPr wrap="square" lIns="0" tIns="0" rIns="0" bIns="0" rtlCol="0" anchor="t"/>
          <a:lstStyle/>
          <a:p>
            <a:pPr indent="0" marL="0">
              <a:buNone/>
            </a:pPr>
            <a:r>
              <a:rPr lang="en-US" sz="1500" b="1" dirty="0">
                <a:solidFill>
                  <a:srgbClr val="002060"/>
                </a:solidFill>
                <a:latin typeface="Calibri" pitchFamily="34" charset="0"/>
                <a:ea typeface="Calibri" pitchFamily="34" charset="-122"/>
                <a:cs typeface="Calibri" pitchFamily="34" charset="-120"/>
              </a:rPr>
              <a:t>Data Binding</a:t>
            </a:r>
            <a:endParaRPr lang="en-US" sz="1500" dirty="0"/>
          </a:p>
        </p:txBody>
      </p:sp>
      <p:sp>
        <p:nvSpPr>
          <p:cNvPr id="17" name="Text 13"/>
          <p:cNvSpPr txBox="1"/>
          <p:nvPr/>
        </p:nvSpPr>
        <p:spPr>
          <a:xfrm>
            <a:off x="1016000" y="4305300"/>
            <a:ext cx="3016250" cy="508000"/>
          </a:xfrm>
          <a:prstGeom prst="rect">
            <a:avLst/>
          </a:prstGeom>
          <a:noFill/>
          <a:ln/>
        </p:spPr>
        <p:txBody>
          <a:bodyPr wrap="square" lIns="0" tIns="0" rIns="0" bIns="0" rtlCol="0" anchor="t"/>
          <a:lstStyle/>
          <a:p>
            <a:pPr indent="0" marL="0">
              <a:buNone/>
            </a:pPr>
            <a:r>
              <a:rPr lang="en-US" sz="1200" dirty="0">
                <a:solidFill>
                  <a:srgbClr val="8E0000"/>
                </a:solidFill>
                <a:latin typeface="Courier New" pitchFamily="34" charset="0"/>
                <a:ea typeface="Courier New" pitchFamily="34" charset="-122"/>
                <a:cs typeface="Courier New" pitchFamily="34" charset="-120"/>
              </a:rPr>
              <a:t>{{ }} · ng-model · ng-click</a:t>
            </a:r>
            <a:endParaRPr lang="en-US" sz="1200" dirty="0"/>
          </a:p>
        </p:txBody>
      </p:sp>
      <p:sp>
        <p:nvSpPr>
          <p:cNvPr id="18" name="Text 14"/>
          <p:cNvSpPr txBox="1"/>
          <p:nvPr/>
        </p:nvSpPr>
        <p:spPr>
          <a:xfrm>
            <a:off x="1016000" y="4889500"/>
            <a:ext cx="3016250" cy="228600"/>
          </a:xfrm>
          <a:prstGeom prst="rect">
            <a:avLst/>
          </a:prstGeom>
          <a:noFill/>
          <a:ln/>
        </p:spPr>
        <p:txBody>
          <a:bodyPr wrap="square" lIns="0" tIns="0" rIns="0" bIns="0" rtlCol="0" anchor="t"/>
          <a:lstStyle/>
          <a:p>
            <a:pPr indent="0" marL="0">
              <a:buNone/>
            </a:pPr>
            <a:r>
              <a:rPr lang="en-US" sz="1300" dirty="0">
                <a:solidFill>
                  <a:srgbClr val="3D4458"/>
                </a:solidFill>
                <a:latin typeface="Calibri" pitchFamily="34" charset="0"/>
                <a:ea typeface="Calibri" pitchFamily="34" charset="-122"/>
                <a:cs typeface="Calibri" pitchFamily="34" charset="-120"/>
              </a:rPr>
              <a:t>Used in: menu search, live preview</a:t>
            </a:r>
            <a:endParaRPr lang="en-US" sz="1300" dirty="0"/>
          </a:p>
        </p:txBody>
      </p:sp>
      <p:sp>
        <p:nvSpPr>
          <p:cNvPr id="19" name="Shape 15"/>
          <p:cNvSpPr/>
          <p:nvPr/>
        </p:nvSpPr>
        <p:spPr>
          <a:xfrm>
            <a:off x="4387850" y="3810000"/>
            <a:ext cx="3422650" cy="1460500"/>
          </a:xfrm>
          <a:prstGeom prst="roundRect">
            <a:avLst>
              <a:gd name="adj" fmla="val 5009"/>
            </a:avLst>
          </a:prstGeom>
          <a:solidFill>
            <a:srgbClr val="FFFFFF"/>
          </a:solidFill>
          <a:ln w="12700">
            <a:solidFill>
              <a:srgbClr val="DDE1EA"/>
            </a:solidFill>
            <a:prstDash val="solid"/>
          </a:ln>
        </p:spPr>
      </p:sp>
      <p:sp>
        <p:nvSpPr>
          <p:cNvPr id="20" name="Text 16"/>
          <p:cNvSpPr txBox="1"/>
          <p:nvPr/>
        </p:nvSpPr>
        <p:spPr>
          <a:xfrm>
            <a:off x="4591050" y="3987800"/>
            <a:ext cx="3016250" cy="254000"/>
          </a:xfrm>
          <a:prstGeom prst="rect">
            <a:avLst/>
          </a:prstGeom>
          <a:noFill/>
          <a:ln/>
        </p:spPr>
        <p:txBody>
          <a:bodyPr wrap="square" lIns="0" tIns="0" rIns="0" bIns="0" rtlCol="0" anchor="t"/>
          <a:lstStyle/>
          <a:p>
            <a:pPr indent="0" marL="0">
              <a:buNone/>
            </a:pPr>
            <a:r>
              <a:rPr lang="en-US" sz="1500" b="1" dirty="0">
                <a:solidFill>
                  <a:srgbClr val="002060"/>
                </a:solidFill>
                <a:latin typeface="Calibri" pitchFamily="34" charset="0"/>
                <a:ea typeface="Calibri" pitchFamily="34" charset="-122"/>
                <a:cs typeface="Calibri" pitchFamily="34" charset="-120"/>
              </a:rPr>
              <a:t>Directives</a:t>
            </a:r>
            <a:endParaRPr lang="en-US" sz="1500" dirty="0"/>
          </a:p>
        </p:txBody>
      </p:sp>
      <p:sp>
        <p:nvSpPr>
          <p:cNvPr id="21" name="Text 17"/>
          <p:cNvSpPr txBox="1"/>
          <p:nvPr/>
        </p:nvSpPr>
        <p:spPr>
          <a:xfrm>
            <a:off x="4591050" y="4305300"/>
            <a:ext cx="3016250" cy="508000"/>
          </a:xfrm>
          <a:prstGeom prst="rect">
            <a:avLst/>
          </a:prstGeom>
          <a:noFill/>
          <a:ln/>
        </p:spPr>
        <p:txBody>
          <a:bodyPr wrap="square" lIns="0" tIns="0" rIns="0" bIns="0" rtlCol="0" anchor="t"/>
          <a:lstStyle/>
          <a:p>
            <a:pPr indent="0" marL="0">
              <a:buNone/>
            </a:pPr>
            <a:r>
              <a:rPr lang="en-US" sz="1200" dirty="0">
                <a:solidFill>
                  <a:srgbClr val="8E0000"/>
                </a:solidFill>
                <a:latin typeface="Courier New" pitchFamily="34" charset="0"/>
                <a:ea typeface="Courier New" pitchFamily="34" charset="-122"/>
                <a:cs typeface="Courier New" pitchFamily="34" charset="-120"/>
              </a:rPr>
              <a:t>ng-repeat · ng-show · ng-class</a:t>
            </a:r>
            <a:endParaRPr lang="en-US" sz="1200" dirty="0"/>
          </a:p>
        </p:txBody>
      </p:sp>
      <p:sp>
        <p:nvSpPr>
          <p:cNvPr id="22" name="Text 18"/>
          <p:cNvSpPr txBox="1"/>
          <p:nvPr/>
        </p:nvSpPr>
        <p:spPr>
          <a:xfrm>
            <a:off x="4591050" y="4889500"/>
            <a:ext cx="3016250" cy="228600"/>
          </a:xfrm>
          <a:prstGeom prst="rect">
            <a:avLst/>
          </a:prstGeom>
          <a:noFill/>
          <a:ln/>
        </p:spPr>
        <p:txBody>
          <a:bodyPr wrap="square" lIns="0" tIns="0" rIns="0" bIns="0" rtlCol="0" anchor="t"/>
          <a:lstStyle/>
          <a:p>
            <a:pPr indent="0" marL="0">
              <a:buNone/>
            </a:pPr>
            <a:r>
              <a:rPr lang="en-US" sz="1300" dirty="0">
                <a:solidFill>
                  <a:srgbClr val="3D4458"/>
                </a:solidFill>
                <a:latin typeface="Calibri" pitchFamily="34" charset="0"/>
                <a:ea typeface="Calibri" pitchFamily="34" charset="-122"/>
                <a:cs typeface="Calibri" pitchFamily="34" charset="-120"/>
              </a:rPr>
              <a:t>Used in: menu table, tab bar</a:t>
            </a:r>
            <a:endParaRPr lang="en-US" sz="1300" dirty="0"/>
          </a:p>
        </p:txBody>
      </p:sp>
      <p:sp>
        <p:nvSpPr>
          <p:cNvPr id="23" name="Shape 19"/>
          <p:cNvSpPr/>
          <p:nvPr/>
        </p:nvSpPr>
        <p:spPr>
          <a:xfrm>
            <a:off x="7962900" y="3810000"/>
            <a:ext cx="3422650" cy="1460500"/>
          </a:xfrm>
          <a:prstGeom prst="roundRect">
            <a:avLst>
              <a:gd name="adj" fmla="val 5009"/>
            </a:avLst>
          </a:prstGeom>
          <a:solidFill>
            <a:srgbClr val="FFFFFF"/>
          </a:solidFill>
          <a:ln w="12700">
            <a:solidFill>
              <a:srgbClr val="DDE1EA"/>
            </a:solidFill>
            <a:prstDash val="solid"/>
          </a:ln>
        </p:spPr>
      </p:sp>
      <p:sp>
        <p:nvSpPr>
          <p:cNvPr id="24" name="Text 20"/>
          <p:cNvSpPr txBox="1"/>
          <p:nvPr/>
        </p:nvSpPr>
        <p:spPr>
          <a:xfrm>
            <a:off x="8166100" y="3987800"/>
            <a:ext cx="3016250" cy="254000"/>
          </a:xfrm>
          <a:prstGeom prst="rect">
            <a:avLst/>
          </a:prstGeom>
          <a:noFill/>
          <a:ln/>
        </p:spPr>
        <p:txBody>
          <a:bodyPr wrap="square" lIns="0" tIns="0" rIns="0" bIns="0" rtlCol="0" anchor="t"/>
          <a:lstStyle/>
          <a:p>
            <a:pPr indent="0" marL="0">
              <a:buNone/>
            </a:pPr>
            <a:r>
              <a:rPr lang="en-US" sz="1500" b="1" dirty="0">
                <a:solidFill>
                  <a:srgbClr val="002060"/>
                </a:solidFill>
                <a:latin typeface="Calibri" pitchFamily="34" charset="0"/>
                <a:ea typeface="Calibri" pitchFamily="34" charset="-122"/>
                <a:cs typeface="Calibri" pitchFamily="34" charset="-120"/>
              </a:rPr>
              <a:t>Pipes (AngularJS filters)</a:t>
            </a:r>
            <a:endParaRPr lang="en-US" sz="1500" dirty="0"/>
          </a:p>
        </p:txBody>
      </p:sp>
      <p:sp>
        <p:nvSpPr>
          <p:cNvPr id="25" name="Text 21"/>
          <p:cNvSpPr txBox="1"/>
          <p:nvPr/>
        </p:nvSpPr>
        <p:spPr>
          <a:xfrm>
            <a:off x="8166100" y="4305300"/>
            <a:ext cx="3016250" cy="508000"/>
          </a:xfrm>
          <a:prstGeom prst="rect">
            <a:avLst/>
          </a:prstGeom>
          <a:noFill/>
          <a:ln/>
        </p:spPr>
        <p:txBody>
          <a:bodyPr wrap="square" lIns="0" tIns="0" rIns="0" bIns="0" rtlCol="0" anchor="t"/>
          <a:lstStyle/>
          <a:p>
            <a:pPr indent="0" marL="0">
              <a:buNone/>
            </a:pPr>
            <a:r>
              <a:rPr lang="en-US" sz="1200" dirty="0">
                <a:solidFill>
                  <a:srgbClr val="8E0000"/>
                </a:solidFill>
                <a:latin typeface="Courier New" pitchFamily="34" charset="0"/>
                <a:ea typeface="Courier New" pitchFamily="34" charset="-122"/>
                <a:cs typeface="Courier New" pitchFamily="34" charset="-120"/>
              </a:rPr>
              <a:t>filter · date</a:t>
            </a:r>
            <a:endParaRPr lang="en-US" sz="1200" dirty="0"/>
          </a:p>
        </p:txBody>
      </p:sp>
      <p:sp>
        <p:nvSpPr>
          <p:cNvPr id="26" name="Text 22"/>
          <p:cNvSpPr txBox="1"/>
          <p:nvPr/>
        </p:nvSpPr>
        <p:spPr>
          <a:xfrm>
            <a:off x="8166100" y="4889500"/>
            <a:ext cx="3016250" cy="228600"/>
          </a:xfrm>
          <a:prstGeom prst="rect">
            <a:avLst/>
          </a:prstGeom>
          <a:noFill/>
          <a:ln/>
        </p:spPr>
        <p:txBody>
          <a:bodyPr wrap="square" lIns="0" tIns="0" rIns="0" bIns="0" rtlCol="0" anchor="t"/>
          <a:lstStyle/>
          <a:p>
            <a:pPr indent="0" marL="0">
              <a:buNone/>
            </a:pPr>
            <a:r>
              <a:rPr lang="en-US" sz="1300" dirty="0">
                <a:solidFill>
                  <a:srgbClr val="3D4458"/>
                </a:solidFill>
                <a:latin typeface="Calibri" pitchFamily="34" charset="0"/>
                <a:ea typeface="Calibri" pitchFamily="34" charset="-122"/>
                <a:cs typeface="Calibri" pitchFamily="34" charset="-120"/>
              </a:rPr>
              <a:t>Used in: menu search, booking preview</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UNIT V · SERVICES, DI, LIFECYCLE HOOKS &amp; HTTP</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Services &amp; HTTP Client</a:t>
            </a:r>
            <a:endParaRPr lang="en-US" sz="3200" dirty="0"/>
          </a:p>
        </p:txBody>
      </p:sp>
      <p:sp>
        <p:nvSpPr>
          <p:cNvPr id="11" name="Text 7"/>
          <p:cNvSpPr txBox="1"/>
          <p:nvPr/>
        </p:nvSpPr>
        <p:spPr>
          <a:xfrm>
            <a:off x="812800" y="1803400"/>
            <a:ext cx="5080000" cy="2540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In our project</a:t>
            </a:r>
            <a:endParaRPr lang="en-US" sz="1600" dirty="0"/>
          </a:p>
        </p:txBody>
      </p:sp>
      <p:sp>
        <p:nvSpPr>
          <p:cNvPr id="12" name="Text 8"/>
          <p:cNvSpPr txBox="1"/>
          <p:nvPr/>
        </p:nvSpPr>
        <p:spPr>
          <a:xfrm>
            <a:off x="812800" y="2159000"/>
            <a:ext cx="5080000" cy="2540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Service: BookingService – stores reservations</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Injected into: RestaurantController</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No ngOnInit: controller code runs once on page load</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HTTP: Fetch API – GET text / JSON / XML, POST (201)</a:t>
            </a:r>
            <a:endParaRPr lang="en-US" sz="1500" dirty="0"/>
          </a:p>
        </p:txBody>
      </p:sp>
      <p:sp>
        <p:nvSpPr>
          <p:cNvPr id="13" name="Shape 9"/>
          <p:cNvSpPr/>
          <p:nvPr/>
        </p:nvSpPr>
        <p:spPr>
          <a:xfrm>
            <a:off x="6197600" y="1803400"/>
            <a:ext cx="5181600" cy="3302000"/>
          </a:xfrm>
          <a:prstGeom prst="roundRect">
            <a:avLst>
              <a:gd name="adj" fmla="val 2215"/>
            </a:avLst>
          </a:prstGeom>
          <a:solidFill>
            <a:srgbClr val="0F1C3F"/>
          </a:solidFill>
          <a:ln/>
        </p:spPr>
      </p:sp>
      <p:sp>
        <p:nvSpPr>
          <p:cNvPr id="14" name="Text 10"/>
          <p:cNvSpPr txBox="1"/>
          <p:nvPr/>
        </p:nvSpPr>
        <p:spPr>
          <a:xfrm>
            <a:off x="6375400" y="1943100"/>
            <a:ext cx="4826000" cy="3022600"/>
          </a:xfrm>
          <a:prstGeom prst="rect">
            <a:avLst/>
          </a:prstGeom>
          <a:noFill/>
          <a:ln/>
        </p:spPr>
        <p:txBody>
          <a:bodyPr wrap="square" lIns="0" tIns="0" rIns="0" bIns="0" rtlCol="0" anchor="t"/>
          <a:lstStyle/>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app.service("BookingService", function()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var reservations =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 customerName: "Rahul Sharma", ...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 customerName: "Ananya Iyer", ...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this.getAll = function()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return reservations;</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this.add = function(booking)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reservations.push(booking);</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in the controller (injected by name)</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$scope.bookings = BookingService.getAll();</a:t>
            </a:r>
            <a:endParaRPr lang="en-US" sz="1200" dirty="0"/>
          </a:p>
        </p:txBody>
      </p:sp>
      <p:sp>
        <p:nvSpPr>
          <p:cNvPr id="15" name="Text 11"/>
          <p:cNvSpPr txBox="1"/>
          <p:nvPr/>
        </p:nvSpPr>
        <p:spPr>
          <a:xfrm>
            <a:off x="6197600" y="5194300"/>
            <a:ext cx="5181600" cy="215900"/>
          </a:xfrm>
          <a:prstGeom prst="rect">
            <a:avLst/>
          </a:prstGeom>
          <a:noFill/>
          <a:ln/>
        </p:spPr>
        <p:txBody>
          <a:bodyPr wrap="square" lIns="0" tIns="0" rIns="0" bIns="0" rtlCol="0" anchor="t"/>
          <a:lstStyle/>
          <a:p>
            <a:pPr indent="0" marL="0">
              <a:buNone/>
            </a:pPr>
            <a:r>
              <a:rPr lang="en-US" sz="1200" dirty="0">
                <a:solidFill>
                  <a:srgbClr val="5A6175"/>
                </a:solidFill>
                <a:latin typeface="Calibri" pitchFamily="34" charset="0"/>
                <a:ea typeface="Calibri" pitchFamily="34" charset="-122"/>
                <a:cs typeface="Calibri" pitchFamily="34" charset="-120"/>
              </a:rPr>
              <a:t>Code from angular_app.html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UNIT V · FORMS, VALIDATION &amp; ROUTING</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Forms &amp; Routing</a:t>
            </a:r>
            <a:endParaRPr lang="en-US" sz="3200" dirty="0"/>
          </a:p>
        </p:txBody>
      </p:sp>
      <p:sp>
        <p:nvSpPr>
          <p:cNvPr id="11" name="Shape 7"/>
          <p:cNvSpPr/>
          <p:nvPr/>
        </p:nvSpPr>
        <p:spPr>
          <a:xfrm>
            <a:off x="812800" y="1778000"/>
            <a:ext cx="5181600" cy="3683000"/>
          </a:xfrm>
          <a:prstGeom prst="roundRect">
            <a:avLst>
              <a:gd name="adj" fmla="val 1986"/>
            </a:avLst>
          </a:prstGeom>
          <a:solidFill>
            <a:srgbClr val="FFFFFF"/>
          </a:solidFill>
          <a:ln w="12700">
            <a:solidFill>
              <a:srgbClr val="DDE1EA"/>
            </a:solidFill>
            <a:prstDash val="solid"/>
          </a:ln>
        </p:spPr>
      </p:sp>
      <p:sp>
        <p:nvSpPr>
          <p:cNvPr id="12" name="Text 8"/>
          <p:cNvSpPr txBox="1"/>
          <p:nvPr/>
        </p:nvSpPr>
        <p:spPr>
          <a:xfrm>
            <a:off x="1041400" y="1955800"/>
            <a:ext cx="4724400" cy="2540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Forms &amp; Validation</a:t>
            </a:r>
            <a:endParaRPr lang="en-US" sz="1600" dirty="0"/>
          </a:p>
        </p:txBody>
      </p:sp>
      <p:sp>
        <p:nvSpPr>
          <p:cNvPr id="13" name="Text 9"/>
          <p:cNvSpPr txBox="1"/>
          <p:nvPr/>
        </p:nvSpPr>
        <p:spPr>
          <a:xfrm>
            <a:off x="1041400" y="2286000"/>
            <a:ext cx="4724400" cy="635000"/>
          </a:xfrm>
          <a:prstGeom prst="rect">
            <a:avLst/>
          </a:prstGeom>
          <a:noFill/>
          <a:ln/>
        </p:spPr>
        <p:txBody>
          <a:bodyPr wrap="square" lIns="0" tIns="0" rIns="0" bIns="0" rtlCol="0" anchor="t"/>
          <a:lstStyle/>
          <a:p>
            <a:pPr indent="0" marL="0">
              <a:spcAft>
                <a:spcPts val="800"/>
              </a:spcAft>
              <a:buNone/>
            </a:pPr>
            <a:r>
              <a:rPr lang="en-US" sz="1400" dirty="0">
                <a:solidFill>
                  <a:srgbClr val="3D4458"/>
                </a:solidFill>
                <a:latin typeface="Calibri" pitchFamily="34" charset="0"/>
                <a:ea typeface="Calibri" pitchFamily="34" charset="-122"/>
                <a:cs typeface="Calibri" pitchFamily="34" charset="-120"/>
              </a:rPr>
              <a:t>Template driven (ng-model) – Book a Table form</a:t>
            </a:r>
            <a:endParaRPr lang="en-US" sz="1400" dirty="0"/>
          </a:p>
          <a:p>
            <a:pPr indent="0" marL="0">
              <a:spcAft>
                <a:spcPts val="800"/>
              </a:spcAft>
              <a:buNone/>
            </a:pPr>
            <a:r>
              <a:rPr lang="en-US" sz="1400" dirty="0">
                <a:solidFill>
                  <a:srgbClr val="3D4458"/>
                </a:solidFill>
                <a:latin typeface="Calibri" pitchFamily="34" charset="0"/>
                <a:ea typeface="Calibri" pitchFamily="34" charset="-122"/>
                <a:cs typeface="Calibri" pitchFamily="34" charset="-120"/>
              </a:rPr>
              <a:t>Reactive (FormGroup) – not used</a:t>
            </a:r>
            <a:endParaRPr lang="en-US" sz="1400" dirty="0"/>
          </a:p>
        </p:txBody>
      </p:sp>
      <p:sp>
        <p:nvSpPr>
          <p:cNvPr id="14" name="Shape 10"/>
          <p:cNvSpPr/>
          <p:nvPr/>
        </p:nvSpPr>
        <p:spPr>
          <a:xfrm>
            <a:off x="1041400" y="3048000"/>
            <a:ext cx="4724400" cy="1397000"/>
          </a:xfrm>
          <a:prstGeom prst="roundRect">
            <a:avLst>
              <a:gd name="adj" fmla="val 5236"/>
            </a:avLst>
          </a:prstGeom>
          <a:solidFill>
            <a:srgbClr val="0F1C3F"/>
          </a:solidFill>
          <a:ln/>
        </p:spPr>
      </p:sp>
      <p:sp>
        <p:nvSpPr>
          <p:cNvPr id="15" name="Text 11"/>
          <p:cNvSpPr txBox="1"/>
          <p:nvPr/>
        </p:nvSpPr>
        <p:spPr>
          <a:xfrm>
            <a:off x="1219200" y="3187700"/>
            <a:ext cx="4368800" cy="1117600"/>
          </a:xfrm>
          <a:prstGeom prst="rect">
            <a:avLst/>
          </a:prstGeom>
          <a:noFill/>
          <a:ln/>
        </p:spPr>
        <p:txBody>
          <a:bodyPr wrap="square" lIns="0" tIns="0" rIns="0" bIns="0" rtlCol="0" anchor="t"/>
          <a:lstStyle/>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&lt;input name="name" required</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ng-model="formData.customerName"&gt;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&lt;span ng-show="bookingForm.name.$invalid"&gt;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&lt;input type="submit"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ng-disabled="bookingForm.$invalid"&gt;</a:t>
            </a:r>
            <a:endParaRPr lang="en-US" sz="1200" dirty="0"/>
          </a:p>
        </p:txBody>
      </p:sp>
      <p:sp>
        <p:nvSpPr>
          <p:cNvPr id="16" name="Text 12"/>
          <p:cNvSpPr txBox="1"/>
          <p:nvPr/>
        </p:nvSpPr>
        <p:spPr>
          <a:xfrm>
            <a:off x="1041400" y="4597400"/>
            <a:ext cx="4724400" cy="254000"/>
          </a:xfrm>
          <a:prstGeom prst="rect">
            <a:avLst/>
          </a:prstGeom>
          <a:noFill/>
          <a:ln/>
        </p:spPr>
        <p:txBody>
          <a:bodyPr wrap="square" lIns="0" tIns="0" rIns="0" bIns="0" rtlCol="0" anchor="t"/>
          <a:lstStyle/>
          <a:p>
            <a:pPr indent="0" marL="0">
              <a:buNone/>
            </a:pPr>
            <a:r>
              <a:rPr lang="en-US" sz="1400" dirty="0">
                <a:solidFill>
                  <a:srgbClr val="3D4458"/>
                </a:solidFill>
                <a:latin typeface="Calibri" pitchFamily="34" charset="0"/>
                <a:ea typeface="Calibri" pitchFamily="34" charset="-122"/>
                <a:cs typeface="Calibri" pitchFamily="34" charset="-120"/>
              </a:rPr>
              <a:t>Validations: required, 1–20 guests, $dirty, $invalid</a:t>
            </a:r>
            <a:endParaRPr lang="en-US" sz="1400" dirty="0"/>
          </a:p>
        </p:txBody>
      </p:sp>
      <p:sp>
        <p:nvSpPr>
          <p:cNvPr id="17" name="Shape 13"/>
          <p:cNvSpPr/>
          <p:nvPr/>
        </p:nvSpPr>
        <p:spPr>
          <a:xfrm>
            <a:off x="6197600" y="1778000"/>
            <a:ext cx="5181600" cy="3683000"/>
          </a:xfrm>
          <a:prstGeom prst="roundRect">
            <a:avLst>
              <a:gd name="adj" fmla="val 1986"/>
            </a:avLst>
          </a:prstGeom>
          <a:solidFill>
            <a:srgbClr val="FFFFFF"/>
          </a:solidFill>
          <a:ln w="12700">
            <a:solidFill>
              <a:srgbClr val="DDE1EA"/>
            </a:solidFill>
            <a:prstDash val="solid"/>
          </a:ln>
        </p:spPr>
      </p:sp>
      <p:sp>
        <p:nvSpPr>
          <p:cNvPr id="18" name="Text 14"/>
          <p:cNvSpPr txBox="1"/>
          <p:nvPr/>
        </p:nvSpPr>
        <p:spPr>
          <a:xfrm>
            <a:off x="6426200" y="1955800"/>
            <a:ext cx="4724400" cy="2540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Routing &amp; Navigation</a:t>
            </a:r>
            <a:endParaRPr lang="en-US" sz="1600" dirty="0"/>
          </a:p>
        </p:txBody>
      </p:sp>
      <p:sp>
        <p:nvSpPr>
          <p:cNvPr id="19" name="Text 15"/>
          <p:cNvSpPr txBox="1"/>
          <p:nvPr/>
        </p:nvSpPr>
        <p:spPr>
          <a:xfrm>
            <a:off x="6426200" y="2286000"/>
            <a:ext cx="4724400" cy="635000"/>
          </a:xfrm>
          <a:prstGeom prst="rect">
            <a:avLst/>
          </a:prstGeom>
          <a:noFill/>
          <a:ln/>
        </p:spPr>
        <p:txBody>
          <a:bodyPr wrap="square" lIns="0" tIns="0" rIns="0" bIns="0" rtlCol="0" anchor="t"/>
          <a:lstStyle/>
          <a:p>
            <a:pPr indent="0" marL="0">
              <a:spcAft>
                <a:spcPts val="800"/>
              </a:spcAft>
              <a:buNone/>
            </a:pPr>
            <a:r>
              <a:rPr lang="en-US" sz="1400" dirty="0">
                <a:solidFill>
                  <a:srgbClr val="3D4458"/>
                </a:solidFill>
                <a:latin typeface="Calibri" pitchFamily="34" charset="0"/>
                <a:ea typeface="Calibri" pitchFamily="34" charset="-122"/>
                <a:cs typeface="Calibri" pitchFamily="34" charset="-120"/>
              </a:rPr>
              <a:t>Views: Browse Menu · Book a Table · Reservations</a:t>
            </a:r>
            <a:endParaRPr lang="en-US" sz="1400" dirty="0"/>
          </a:p>
          <a:p>
            <a:pPr indent="0" marL="0">
              <a:spcAft>
                <a:spcPts val="800"/>
              </a:spcAft>
              <a:buNone/>
            </a:pPr>
            <a:r>
              <a:rPr lang="en-US" sz="1400" dirty="0">
                <a:solidFill>
                  <a:srgbClr val="3D4458"/>
                </a:solidFill>
                <a:latin typeface="Calibri" pitchFamily="34" charset="0"/>
                <a:ea typeface="Calibri" pitchFamily="34" charset="-122"/>
                <a:cs typeface="Calibri" pitchFamily="34" charset="-120"/>
              </a:rPr>
              <a:t>setTab() + ng-show replace routerLink / router-outlet</a:t>
            </a:r>
            <a:endParaRPr lang="en-US" sz="1400" dirty="0"/>
          </a:p>
        </p:txBody>
      </p:sp>
      <p:sp>
        <p:nvSpPr>
          <p:cNvPr id="20" name="Shape 16"/>
          <p:cNvSpPr/>
          <p:nvPr/>
        </p:nvSpPr>
        <p:spPr>
          <a:xfrm>
            <a:off x="6426200" y="3048000"/>
            <a:ext cx="4724400" cy="1397000"/>
          </a:xfrm>
          <a:prstGeom prst="roundRect">
            <a:avLst>
              <a:gd name="adj" fmla="val 5236"/>
            </a:avLst>
          </a:prstGeom>
          <a:solidFill>
            <a:srgbClr val="0F1C3F"/>
          </a:solidFill>
          <a:ln/>
        </p:spPr>
      </p:sp>
      <p:sp>
        <p:nvSpPr>
          <p:cNvPr id="21" name="Text 17"/>
          <p:cNvSpPr txBox="1"/>
          <p:nvPr/>
        </p:nvSpPr>
        <p:spPr>
          <a:xfrm>
            <a:off x="6604000" y="3187700"/>
            <a:ext cx="4368800" cy="1117600"/>
          </a:xfrm>
          <a:prstGeom prst="rect">
            <a:avLst/>
          </a:prstGeom>
          <a:noFill/>
          <a:ln/>
        </p:spPr>
        <p:txBody>
          <a:bodyPr wrap="square" lIns="0" tIns="0" rIns="0" bIns="0" rtlCol="0" anchor="t"/>
          <a:lstStyle/>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$scope.currentTab = 'menu';</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$scope.setTab = function(tab) {</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  $scope.currentTab = tab;</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a:t>
            </a:r>
            <a:endParaRPr lang="en-US" sz="1200" dirty="0"/>
          </a:p>
          <a:p>
            <a:pPr indent="0" marL="0">
              <a:lnSpc>
                <a:spcPct val="115000"/>
              </a:lnSpc>
              <a:buNone/>
            </a:pPr>
            <a:r>
              <a:rPr lang="en-US" sz="1200" dirty="0">
                <a:solidFill>
                  <a:srgbClr val="E6EAF2"/>
                </a:solidFill>
                <a:latin typeface="Courier New" pitchFamily="34" charset="0"/>
                <a:ea typeface="Courier New" pitchFamily="34" charset="-122"/>
                <a:cs typeface="Courier New" pitchFamily="34" charset="-120"/>
              </a:rPr>
              <a:t>&lt;div ng-show="currentTab === 'book'"&gt;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OUTPUT</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Output &amp; Results</a:t>
            </a:r>
            <a:endParaRPr lang="en-US" sz="3200" dirty="0"/>
          </a:p>
        </p:txBody>
      </p:sp>
      <p:sp>
        <p:nvSpPr>
          <p:cNvPr id="13" name="Shape 9"/>
          <p:cNvSpPr/>
          <p:nvPr/>
        </p:nvSpPr>
        <p:spPr>
          <a:xfrm>
            <a:off x="812800" y="4699000"/>
            <a:ext cx="3384550" cy="317500"/>
          </a:xfrm>
          <a:prstGeom prst="roundRect">
            <a:avLst>
              <a:gd name="adj" fmla="val 17280"/>
            </a:avLst>
          </a:prstGeom>
          <a:solidFill>
            <a:srgbClr val="002060"/>
          </a:solidFill>
          <a:ln/>
        </p:spPr>
      </p:sp>
      <p:sp>
        <p:nvSpPr>
          <p:cNvPr id="14" name="Text 10"/>
          <p:cNvSpPr txBox="1"/>
          <p:nvPr/>
        </p:nvSpPr>
        <p:spPr>
          <a:xfrm>
            <a:off x="81280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Menu tab: ng-repeat + live filter</a:t>
            </a:r>
            <a:endParaRPr lang="en-US" sz="1300" dirty="0"/>
          </a:p>
        </p:txBody>
      </p:sp>
      <p:sp>
        <p:nvSpPr>
          <p:cNvPr id="17" name="Shape 13"/>
          <p:cNvSpPr/>
          <p:nvPr/>
        </p:nvSpPr>
        <p:spPr>
          <a:xfrm>
            <a:off x="4400550" y="4699000"/>
            <a:ext cx="3384550" cy="317500"/>
          </a:xfrm>
          <a:prstGeom prst="roundRect">
            <a:avLst>
              <a:gd name="adj" fmla="val 17280"/>
            </a:avLst>
          </a:prstGeom>
          <a:solidFill>
            <a:srgbClr val="8E0000"/>
          </a:solidFill>
          <a:ln/>
        </p:spPr>
      </p:sp>
      <p:sp>
        <p:nvSpPr>
          <p:cNvPr id="18" name="Text 14"/>
          <p:cNvSpPr txBox="1"/>
          <p:nvPr/>
        </p:nvSpPr>
        <p:spPr>
          <a:xfrm>
            <a:off x="4400550" y="4699000"/>
            <a:ext cx="3384550" cy="3175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Booking form + live preview</a:t>
            </a:r>
            <a:endParaRPr lang="en-US" sz="1300" dirty="0"/>
          </a:p>
        </p:txBody>
      </p:sp>
      <p:sp>
        <p:nvSpPr>
          <p:cNvPr id="19" name="Shape 15"/>
          <p:cNvSpPr/>
          <p:nvPr/>
        </p:nvSpPr>
        <p:spPr>
          <a:xfrm>
            <a:off x="7988300" y="1778000"/>
            <a:ext cx="3390900" cy="3238500"/>
          </a:xfrm>
          <a:prstGeom prst="roundRect">
            <a:avLst>
              <a:gd name="adj" fmla="val 2259"/>
            </a:avLst>
          </a:prstGeom>
          <a:solidFill>
            <a:srgbClr val="002060"/>
          </a:solidFill>
          <a:ln/>
        </p:spPr>
      </p:sp>
      <p:sp>
        <p:nvSpPr>
          <p:cNvPr id="20" name="Text 16"/>
          <p:cNvSpPr txBox="1"/>
          <p:nvPr/>
        </p:nvSpPr>
        <p:spPr>
          <a:xfrm>
            <a:off x="8216900" y="1981200"/>
            <a:ext cx="2921000" cy="254000"/>
          </a:xfrm>
          <a:prstGeom prst="rect">
            <a:avLst/>
          </a:prstGeom>
          <a:noFill/>
          <a:ln/>
        </p:spPr>
        <p:txBody>
          <a:bodyPr wrap="square" lIns="0" tIns="0" rIns="0" bIns="0" rtlCol="0" anchor="t"/>
          <a:lstStyle/>
          <a:p>
            <a:pPr indent="0" marL="0">
              <a:buNone/>
            </a:pPr>
            <a:r>
              <a:rPr lang="en-US" sz="1600" b="1" dirty="0">
                <a:solidFill>
                  <a:srgbClr val="F2C4C4"/>
                </a:solidFill>
                <a:latin typeface="Calibri" pitchFamily="34" charset="0"/>
                <a:ea typeface="Calibri" pitchFamily="34" charset="-122"/>
                <a:cs typeface="Calibri" pitchFamily="34" charset="-120"/>
              </a:rPr>
              <a:t>Results</a:t>
            </a:r>
            <a:endParaRPr lang="en-US" sz="1600" dirty="0"/>
          </a:p>
        </p:txBody>
      </p:sp>
      <p:pic>
        <p:nvPicPr>
          <p:cNvPr id="21" name="Image 1" descr="preencoded.png">    </p:cNvPr>
          <p:cNvPicPr>
            <a:picLocks noChangeAspect="1"/>
          </p:cNvPicPr>
          <p:nvPr/>
        </p:nvPicPr>
        <p:blipFill>
          <a:blip r:embed="rId2"/>
          <a:stretch>
            <a:fillRect/>
          </a:stretch>
        </p:blipFill>
        <p:spPr>
          <a:xfrm>
            <a:off x="8216900" y="2425700"/>
            <a:ext cx="228600" cy="228600"/>
          </a:xfrm>
          <a:prstGeom prst="rect">
            <a:avLst/>
          </a:prstGeom>
        </p:spPr>
      </p:pic>
      <p:sp>
        <p:nvSpPr>
          <p:cNvPr id="22" name="Text 17"/>
          <p:cNvSpPr txBox="1"/>
          <p:nvPr/>
        </p:nvSpPr>
        <p:spPr>
          <a:xfrm>
            <a:off x="8547100" y="24130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Live search &amp; category filter</a:t>
            </a:r>
            <a:endParaRPr lang="en-US" sz="1400" dirty="0"/>
          </a:p>
        </p:txBody>
      </p:sp>
      <p:pic>
        <p:nvPicPr>
          <p:cNvPr id="23" name="Image 2" descr="preencoded.png">    </p:cNvPr>
          <p:cNvPicPr>
            <a:picLocks noChangeAspect="1"/>
          </p:cNvPicPr>
          <p:nvPr/>
        </p:nvPicPr>
        <p:blipFill>
          <a:blip r:embed="rId3"/>
          <a:stretch>
            <a:fillRect/>
          </a:stretch>
        </p:blipFill>
        <p:spPr>
          <a:xfrm>
            <a:off x="8216900" y="2984500"/>
            <a:ext cx="228600" cy="228600"/>
          </a:xfrm>
          <a:prstGeom prst="rect">
            <a:avLst/>
          </a:prstGeom>
        </p:spPr>
      </p:pic>
      <p:sp>
        <p:nvSpPr>
          <p:cNvPr id="24" name="Text 18"/>
          <p:cNvSpPr txBox="1"/>
          <p:nvPr/>
        </p:nvSpPr>
        <p:spPr>
          <a:xfrm>
            <a:off x="8547100" y="29718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Form validation + preview</a:t>
            </a:r>
            <a:endParaRPr lang="en-US" sz="1400" dirty="0"/>
          </a:p>
        </p:txBody>
      </p:sp>
      <p:pic>
        <p:nvPicPr>
          <p:cNvPr id="25" name="Image 3" descr="preencoded.png">    </p:cNvPr>
          <p:cNvPicPr>
            <a:picLocks noChangeAspect="1"/>
          </p:cNvPicPr>
          <p:nvPr/>
        </p:nvPicPr>
        <p:blipFill>
          <a:blip r:embed="rId4"/>
          <a:stretch>
            <a:fillRect/>
          </a:stretch>
        </p:blipFill>
        <p:spPr>
          <a:xfrm>
            <a:off x="8216900" y="3543300"/>
            <a:ext cx="228600" cy="228600"/>
          </a:xfrm>
          <a:prstGeom prst="rect">
            <a:avLst/>
          </a:prstGeom>
        </p:spPr>
      </p:pic>
      <p:sp>
        <p:nvSpPr>
          <p:cNvPr id="26" name="Text 19"/>
          <p:cNvSpPr txBox="1"/>
          <p:nvPr/>
        </p:nvSpPr>
        <p:spPr>
          <a:xfrm>
            <a:off x="8547100" y="35306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Bookings saved, tab switches</a:t>
            </a:r>
            <a:endParaRPr lang="en-US" sz="1400" dirty="0"/>
          </a:p>
        </p:txBody>
      </p:sp>
      <p:pic>
        <p:nvPicPr>
          <p:cNvPr id="27" name="Image 4" descr="preencoded.png">    </p:cNvPr>
          <p:cNvPicPr>
            <a:picLocks noChangeAspect="1"/>
          </p:cNvPicPr>
          <p:nvPr/>
        </p:nvPicPr>
        <p:blipFill>
          <a:blip r:embed="rId5"/>
          <a:stretch>
            <a:fillRect/>
          </a:stretch>
        </p:blipFill>
        <p:spPr>
          <a:xfrm>
            <a:off x="8216900" y="4102100"/>
            <a:ext cx="228600" cy="228600"/>
          </a:xfrm>
          <a:prstGeom prst="rect">
            <a:avLst/>
          </a:prstGeom>
        </p:spPr>
      </p:pic>
      <p:sp>
        <p:nvSpPr>
          <p:cNvPr id="28" name="Text 20"/>
          <p:cNvSpPr txBox="1"/>
          <p:nvPr/>
        </p:nvSpPr>
        <p:spPr>
          <a:xfrm>
            <a:off x="8547100" y="4089400"/>
            <a:ext cx="2654300" cy="254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Tested: Chrome, desktop + mobile</a:t>
            </a:r>
            <a:endParaRPr lang="en-US" sz="1400" dirty="0"/>
          </a:p>
        </p:txBody>
      </p:sp>
      <p:pic>
        <p:nvPicPr>
          <p:cNvPr id="29" name="Screenshot ng_menu" descr="ng_menu.png"/>
          <p:cNvPicPr>
            <a:picLocks noChangeAspect="1"/>
          </p:cNvPicPr>
          <p:nvPr/>
        </p:nvPicPr>
        <p:blipFill>
          <a:blip r:embed="rId8"/>
          <a:stretch>
            <a:fillRect/>
          </a:stretch>
        </p:blipFill>
        <p:spPr>
          <a:xfrm>
            <a:off x="812800" y="1778000"/>
            <a:ext cx="3384550" cy="2794000"/>
          </a:xfrm>
          <a:prstGeom prst="rect">
            <a:avLst/>
          </a:prstGeom>
          <a:ln w="9525">
            <a:solidFill>
              <a:srgbClr val="C9CEDB"/>
            </a:solidFill>
          </a:ln>
        </p:spPr>
      </p:pic>
      <p:pic>
        <p:nvPicPr>
          <p:cNvPr id="30" name="Screenshot ng_form" descr="ng_form.png"/>
          <p:cNvPicPr>
            <a:picLocks noChangeAspect="1"/>
          </p:cNvPicPr>
          <p:nvPr/>
        </p:nvPicPr>
        <p:blipFill>
          <a:blip r:embed="rId9"/>
          <a:stretch>
            <a:fillRect/>
          </a:stretch>
        </p:blipFill>
        <p:spPr>
          <a:xfrm>
            <a:off x="4400550" y="1778000"/>
            <a:ext cx="3384550" cy="2794000"/>
          </a:xfrm>
          <a:prstGeom prst="rect">
            <a:avLst/>
          </a:prstGeom>
          <a:ln w="9525">
            <a:solidFill>
              <a:srgbClr val="C9CEDB"/>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TEAM</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Individual Contribution</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841500"/>
          <a:ext cx="10566400" cy="914400"/>
        </p:xfrm>
        <a:graphic>
          <a:graphicData uri="http://schemas.openxmlformats.org/drawingml/2006/table">
            <a:tbl>
              <a:tblPr/>
              <a:tblGrid>
                <a:gridCol w="2958592"/>
                <a:gridCol w="3803904"/>
                <a:gridCol w="3803904"/>
              </a:tblGrid>
              <a:tr h="5715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Member</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Modules built</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Unit V concepts used</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02060"/>
                    </a:solidFill>
                  </a:tcPr>
                </a:tc>
              </a:tr>
              <a:tr h="571500">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[Student Name 1]</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Weeks 1–5: pages, CSS, JS validation</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Templates &amp; data binding</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571500">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[Student Name 2]</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Weeks 6, 8–10: XML / DTD, Fetch API</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Services &amp; dependency injection</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r h="571500">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[Student Name 3]</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Week 11 TypeScript + Menu tab</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Directives &amp; filters</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r>
              <a:tr h="571500">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[Student Name 4]</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Weeks 12–14: booking form + tabs</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c>
                  <a:txBody>
                    <a:bodyPr/>
                    <a:lstStyle/>
                    <a:p>
                      <a:pPr indent="0" marL="0">
                        <a:buNone/>
                      </a:pPr>
                      <a:r>
                        <a:rPr lang="en-US" sz="1500" dirty="0">
                          <a:solidFill>
                            <a:srgbClr val="002060"/>
                          </a:solidFill>
                          <a:latin typeface="Calibri" pitchFamily="34" charset="0"/>
                          <a:ea typeface="Calibri" pitchFamily="34" charset="-122"/>
                          <a:cs typeface="Calibri" pitchFamily="34" charset="-120"/>
                        </a:rPr>
                        <a:t>Template-driven forms, tab navigation</a:t>
                      </a:r>
                      <a:endParaRPr lang="en-US" sz="1500" dirty="0">
                        <a:latin typeface="Calibri" charset="0"/>
                        <a:ea typeface="Calibri" charset="0"/>
                        <a:cs typeface="Calibri" charset="0"/>
                      </a:endParaRPr>
                    </a:p>
                  </a:txBody>
                  <a:tcPr marL="91440" marR="91440" marT="36576" marB="36576"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EEF0F6"/>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002060"/>
          </a:solidFill>
          <a:ln/>
        </p:spPr>
      </p:sp>
      <p:sp>
        <p:nvSpPr>
          <p:cNvPr id="4" name="Shape 2"/>
          <p:cNvSpPr/>
          <p:nvPr/>
        </p:nvSpPr>
        <p:spPr>
          <a:xfrm flipH="1">
            <a:off x="10795000" y="5461000"/>
            <a:ext cx="1397000" cy="1397000"/>
          </a:xfrm>
          <a:prstGeom prst="rtTriangle">
            <a:avLst/>
          </a:prstGeom>
          <a:solidFill>
            <a:srgbClr val="002060"/>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812800" y="889000"/>
            <a:ext cx="609600" cy="609600"/>
          </a:xfrm>
          <a:prstGeom prst="ellipse">
            <a:avLst/>
          </a:prstGeom>
          <a:solidFill>
            <a:srgbClr val="002060"/>
          </a:solidFill>
          <a:ln w="38100">
            <a:solidFill>
              <a:srgbClr val="8E0000"/>
            </a:solidFill>
            <a:prstDash val="solid"/>
          </a:ln>
        </p:spPr>
      </p:sp>
      <p:pic>
        <p:nvPicPr>
          <p:cNvPr id="7" name="Image 0" descr="preencoded.png">    </p:cNvPr>
          <p:cNvPicPr>
            <a:picLocks noChangeAspect="1"/>
          </p:cNvPicPr>
          <p:nvPr/>
        </p:nvPicPr>
        <p:blipFill>
          <a:blip r:embed="rId1"/>
          <a:stretch>
            <a:fillRect/>
          </a:stretch>
        </p:blipFill>
        <p:spPr>
          <a:xfrm>
            <a:off x="965200" y="1041400"/>
            <a:ext cx="304800" cy="304800"/>
          </a:xfrm>
          <a:prstGeom prst="rect">
            <a:avLst/>
          </a:prstGeom>
        </p:spPr>
      </p:pic>
      <p:sp>
        <p:nvSpPr>
          <p:cNvPr id="8" name="Text 5"/>
          <p:cNvSpPr txBox="1"/>
          <p:nvPr/>
        </p:nvSpPr>
        <p:spPr>
          <a:xfrm>
            <a:off x="1600200" y="812800"/>
            <a:ext cx="8763000" cy="203200"/>
          </a:xfrm>
          <a:prstGeom prst="rect">
            <a:avLst/>
          </a:prstGeom>
          <a:noFill/>
          <a:ln/>
        </p:spPr>
        <p:txBody>
          <a:bodyPr wrap="square" lIns="0" tIns="0" rIns="0" bIns="0" rtlCol="0" anchor="t"/>
          <a:lstStyle/>
          <a:p>
            <a:pPr indent="0" marL="0">
              <a:buNone/>
            </a:pPr>
            <a:r>
              <a:rPr lang="en-US" sz="1200" b="1" spc="300" kern="0" dirty="0">
                <a:solidFill>
                  <a:srgbClr val="8E0000"/>
                </a:solidFill>
                <a:latin typeface="Calibri" pitchFamily="34" charset="0"/>
                <a:ea typeface="Calibri" pitchFamily="34" charset="-122"/>
                <a:cs typeface="Calibri" pitchFamily="34" charset="-120"/>
              </a:rPr>
              <a:t>WRAP-UP</a:t>
            </a:r>
            <a:endParaRPr lang="en-US" sz="1200" dirty="0"/>
          </a:p>
        </p:txBody>
      </p:sp>
      <p:sp>
        <p:nvSpPr>
          <p:cNvPr id="9" name="Text 2"/>
          <p:cNvSpPr/>
          <p:nvPr>
            <p:ph idx="103" type="title" hasCustomPrompt="1"/>
          </p:nvPr>
        </p:nvSpPr>
        <p:spPr>
          <a:xfrm>
            <a:off x="1600200" y="1016000"/>
            <a:ext cx="8763000" cy="482600"/>
          </a:xfrm>
          <a:prstGeom prst="rect">
            <a:avLst/>
          </a:prstGeom>
          <a:noFill/>
          <a:ln/>
        </p:spPr>
        <p:txBody>
          <a:bodyPr wrap="square" lIns="0" tIns="0" rIns="0" bIns="0" rtlCol="0" anchor="t"/>
          <a:lstStyle/>
          <a:p>
            <a:pPr algn="l" indent="0" marL="0">
              <a:buNone/>
            </a:pPr>
            <a:r>
              <a:rPr lang="en-US" sz="3200" b="1" dirty="0">
                <a:solidFill>
                  <a:srgbClr val="002060"/>
                </a:solidFill>
                <a:latin typeface="Cambria" pitchFamily="34" charset="0"/>
                <a:ea typeface="Cambria" pitchFamily="34" charset="-122"/>
                <a:cs typeface="Cambria" pitchFamily="34" charset="-120"/>
              </a:rPr>
              <a:t>Conclusion &amp; Future Scope</a:t>
            </a:r>
            <a:endParaRPr lang="en-US" sz="3200" dirty="0"/>
          </a:p>
        </p:txBody>
      </p:sp>
      <p:sp>
        <p:nvSpPr>
          <p:cNvPr id="11" name="Shape 7"/>
          <p:cNvSpPr/>
          <p:nvPr/>
        </p:nvSpPr>
        <p:spPr>
          <a:xfrm>
            <a:off x="812800" y="1778000"/>
            <a:ext cx="5181600" cy="2286000"/>
          </a:xfrm>
          <a:prstGeom prst="roundRect">
            <a:avLst>
              <a:gd name="adj" fmla="val 3200"/>
            </a:avLst>
          </a:prstGeom>
          <a:solidFill>
            <a:srgbClr val="FFFFFF"/>
          </a:solidFill>
          <a:ln w="12700">
            <a:solidFill>
              <a:srgbClr val="DDE1EA"/>
            </a:solidFill>
            <a:prstDash val="solid"/>
          </a:ln>
        </p:spPr>
      </p:sp>
      <p:sp>
        <p:nvSpPr>
          <p:cNvPr id="12" name="Text 8"/>
          <p:cNvSpPr txBox="1"/>
          <p:nvPr/>
        </p:nvSpPr>
        <p:spPr>
          <a:xfrm>
            <a:off x="1066800" y="1981200"/>
            <a:ext cx="4673600" cy="254000"/>
          </a:xfrm>
          <a:prstGeom prst="rect">
            <a:avLst/>
          </a:prstGeom>
          <a:noFill/>
          <a:ln/>
        </p:spPr>
        <p:txBody>
          <a:bodyPr wrap="square" lIns="0" tIns="0" rIns="0" bIns="0" rtlCol="0" anchor="t"/>
          <a:lstStyle/>
          <a:p>
            <a:pPr indent="0" marL="0">
              <a:buNone/>
            </a:pPr>
            <a:r>
              <a:rPr lang="en-US" sz="1600" b="1" dirty="0">
                <a:solidFill>
                  <a:srgbClr val="002060"/>
                </a:solidFill>
                <a:latin typeface="Calibri" pitchFamily="34" charset="0"/>
                <a:ea typeface="Calibri" pitchFamily="34" charset="-122"/>
                <a:cs typeface="Calibri" pitchFamily="34" charset="-120"/>
              </a:rPr>
              <a:t>Conclusion</a:t>
            </a:r>
            <a:endParaRPr lang="en-US" sz="1600" dirty="0"/>
          </a:p>
        </p:txBody>
      </p:sp>
      <p:sp>
        <p:nvSpPr>
          <p:cNvPr id="13" name="Text 9"/>
          <p:cNvSpPr txBox="1"/>
          <p:nvPr/>
        </p:nvSpPr>
        <p:spPr>
          <a:xfrm>
            <a:off x="1066800" y="2311400"/>
            <a:ext cx="4673600" cy="1524000"/>
          </a:xfrm>
          <a:prstGeom prst="rect">
            <a:avLst/>
          </a:prstGeom>
          <a:noFill/>
          <a:ln/>
        </p:spPr>
        <p:txBody>
          <a:bodyPr wrap="square" lIns="0" tIns="0" rIns="0" bIns="0" rtlCol="0" anchor="t"/>
          <a:lstStyle/>
          <a:p>
            <a:pPr indent="0" marL="0">
              <a:lnSpc>
                <a:spcPct val="120000"/>
              </a:lnSpc>
              <a:buNone/>
            </a:pPr>
            <a:r>
              <a:rPr lang="en-US" sz="1500" dirty="0">
                <a:solidFill>
                  <a:srgbClr val="3D4458"/>
                </a:solidFill>
                <a:latin typeface="Calibri" pitchFamily="34" charset="0"/>
                <a:ea typeface="Calibri" pitchFamily="34" charset="-122"/>
                <a:cs typeface="Calibri" pitchFamily="34" charset="-120"/>
              </a:rPr>
              <a:t>Kaboom's Kitchen covers all 14 lab weeks in one website. For Unit V we applied an AngularJS module and controller, two-way binding, directives, filters, a shared service with dependency injection and template-driven form validation.</a:t>
            </a:r>
            <a:endParaRPr lang="en-US" sz="1500" dirty="0"/>
          </a:p>
        </p:txBody>
      </p:sp>
      <p:sp>
        <p:nvSpPr>
          <p:cNvPr id="14" name="Shape 10"/>
          <p:cNvSpPr/>
          <p:nvPr/>
        </p:nvSpPr>
        <p:spPr>
          <a:xfrm>
            <a:off x="6197600" y="1778000"/>
            <a:ext cx="5181600" cy="2286000"/>
          </a:xfrm>
          <a:prstGeom prst="roundRect">
            <a:avLst>
              <a:gd name="adj" fmla="val 3200"/>
            </a:avLst>
          </a:prstGeom>
          <a:solidFill>
            <a:srgbClr val="FFFFFF"/>
          </a:solidFill>
          <a:ln w="12700">
            <a:solidFill>
              <a:srgbClr val="DDE1EA"/>
            </a:solidFill>
            <a:prstDash val="solid"/>
          </a:ln>
        </p:spPr>
      </p:sp>
      <p:sp>
        <p:nvSpPr>
          <p:cNvPr id="15" name="Text 11"/>
          <p:cNvSpPr txBox="1"/>
          <p:nvPr/>
        </p:nvSpPr>
        <p:spPr>
          <a:xfrm>
            <a:off x="6451600" y="1981200"/>
            <a:ext cx="4673600" cy="254000"/>
          </a:xfrm>
          <a:prstGeom prst="rect">
            <a:avLst/>
          </a:prstGeom>
          <a:noFill/>
          <a:ln/>
        </p:spPr>
        <p:txBody>
          <a:bodyPr wrap="square" lIns="0" tIns="0" rIns="0" bIns="0" rtlCol="0" anchor="t"/>
          <a:lstStyle/>
          <a:p>
            <a:pPr indent="0" marL="0">
              <a:buNone/>
            </a:pPr>
            <a:r>
              <a:rPr lang="en-US" sz="1600" b="1" dirty="0">
                <a:solidFill>
                  <a:srgbClr val="8E0000"/>
                </a:solidFill>
                <a:latin typeface="Calibri" pitchFamily="34" charset="0"/>
                <a:ea typeface="Calibri" pitchFamily="34" charset="-122"/>
                <a:cs typeface="Calibri" pitchFamily="34" charset="-120"/>
              </a:rPr>
              <a:t>Future Scope</a:t>
            </a:r>
            <a:endParaRPr lang="en-US" sz="1600" dirty="0"/>
          </a:p>
        </p:txBody>
      </p:sp>
      <p:sp>
        <p:nvSpPr>
          <p:cNvPr id="16" name="Text 12"/>
          <p:cNvSpPr txBox="1"/>
          <p:nvPr/>
        </p:nvSpPr>
        <p:spPr>
          <a:xfrm>
            <a:off x="6451600" y="2311400"/>
            <a:ext cx="4673600" cy="1524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Rebuild with Angular CLI: components, Router, Reactive Forms</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Real backend (Node.js + MySQL) for logins and bookings</a:t>
            </a:r>
            <a:endParaRPr lang="en-US" sz="1500" dirty="0"/>
          </a:p>
          <a:p>
            <a:pPr marL="342900" indent="-342900">
              <a:spcAft>
                <a:spcPts val="800"/>
              </a:spcAft>
              <a:buSzPct val="100000"/>
              <a:buChar char="•"/>
            </a:pPr>
            <a:r>
              <a:rPr lang="en-US" sz="1500" dirty="0">
                <a:solidFill>
                  <a:srgbClr val="3D4458"/>
                </a:solidFill>
                <a:latin typeface="Calibri" pitchFamily="34" charset="0"/>
                <a:ea typeface="Calibri" pitchFamily="34" charset="-122"/>
                <a:cs typeface="Calibri" pitchFamily="34" charset="-120"/>
              </a:rPr>
              <a:t>Fix booking date timezone; route guards for login</a:t>
            </a:r>
            <a:endParaRPr lang="en-US" sz="1500" dirty="0"/>
          </a:p>
        </p:txBody>
      </p:sp>
      <p:sp>
        <p:nvSpPr>
          <p:cNvPr id="17" name="Shape 13"/>
          <p:cNvSpPr/>
          <p:nvPr/>
        </p:nvSpPr>
        <p:spPr>
          <a:xfrm>
            <a:off x="812800" y="4292600"/>
            <a:ext cx="10566400" cy="1206500"/>
          </a:xfrm>
          <a:prstGeom prst="roundRect">
            <a:avLst>
              <a:gd name="adj" fmla="val 6063"/>
            </a:avLst>
          </a:prstGeom>
          <a:solidFill>
            <a:srgbClr val="EEF0F6"/>
          </a:solidFill>
          <a:ln/>
        </p:spPr>
      </p:sp>
      <p:sp>
        <p:nvSpPr>
          <p:cNvPr id="18" name="Text 14"/>
          <p:cNvSpPr txBox="1"/>
          <p:nvPr/>
        </p:nvSpPr>
        <p:spPr>
          <a:xfrm>
            <a:off x="1041400" y="4445000"/>
            <a:ext cx="10096500" cy="203200"/>
          </a:xfrm>
          <a:prstGeom prst="rect">
            <a:avLst/>
          </a:prstGeom>
          <a:noFill/>
          <a:ln/>
        </p:spPr>
        <p:txBody>
          <a:bodyPr wrap="square" lIns="0" tIns="0" rIns="0" bIns="0" rtlCol="0" anchor="t"/>
          <a:lstStyle/>
          <a:p>
            <a:pPr indent="0" marL="0">
              <a:buNone/>
            </a:pPr>
            <a:r>
              <a:rPr lang="en-US" sz="1200" b="1" spc="100" kern="0" dirty="0">
                <a:solidFill>
                  <a:srgbClr val="8E0000"/>
                </a:solidFill>
                <a:latin typeface="Calibri" pitchFamily="34" charset="0"/>
                <a:ea typeface="Calibri" pitchFamily="34" charset="-122"/>
                <a:cs typeface="Calibri" pitchFamily="34" charset="-120"/>
              </a:rPr>
              <a:t>REFERENCES</a:t>
            </a:r>
            <a:endParaRPr lang="en-US" sz="1200" dirty="0"/>
          </a:p>
        </p:txBody>
      </p:sp>
      <p:sp>
        <p:nvSpPr>
          <p:cNvPr id="19" name="Text 15"/>
          <p:cNvSpPr txBox="1"/>
          <p:nvPr/>
        </p:nvSpPr>
        <p:spPr>
          <a:xfrm>
            <a:off x="1041400" y="4686300"/>
            <a:ext cx="10096500" cy="762000"/>
          </a:xfrm>
          <a:prstGeom prst="rect">
            <a:avLst/>
          </a:prstGeom>
          <a:noFill/>
          <a:ln/>
        </p:spPr>
        <p:txBody>
          <a:bodyPr wrap="square" lIns="0" tIns="0" rIns="0" bIns="0" rtlCol="0" anchor="t"/>
          <a:lstStyle/>
          <a:p>
            <a:pPr indent="0" marL="0">
              <a:lnSpc>
                <a:spcPct val="110000"/>
              </a:lnSpc>
              <a:buNone/>
            </a:pPr>
            <a:r>
              <a:rPr lang="en-US" sz="1300" dirty="0">
                <a:solidFill>
                  <a:srgbClr val="3D4458"/>
                </a:solidFill>
                <a:latin typeface="Calibri" pitchFamily="34" charset="0"/>
                <a:ea typeface="Calibri" pitchFamily="34" charset="-122"/>
                <a:cs typeface="Calibri" pitchFamily="34" charset="-120"/>
              </a:rPr>
              <a:t>1. Angular Documentation – angular.dev        2. AngularJS Documentation – docs.angularjs.org</a:t>
            </a:r>
            <a:endParaRPr lang="en-US" sz="1300" dirty="0"/>
          </a:p>
          <a:p>
            <a:pPr indent="0" marL="0">
              <a:lnSpc>
                <a:spcPct val="110000"/>
              </a:lnSpc>
              <a:buNone/>
            </a:pPr>
            <a:r>
              <a:rPr lang="en-US" sz="1300" dirty="0">
                <a:solidFill>
                  <a:srgbClr val="3D4458"/>
                </a:solidFill>
                <a:latin typeface="Calibri" pitchFamily="34" charset="0"/>
                <a:ea typeface="Calibri" pitchFamily="34" charset="-122"/>
                <a:cs typeface="Calibri" pitchFamily="34" charset="-120"/>
              </a:rPr>
              <a:t>3. TypeScript Documentation – typescriptlang.org        4. MDN Web Docs – developer.mozilla.org</a:t>
            </a:r>
            <a:endParaRPr lang="en-US" sz="1300" dirty="0"/>
          </a:p>
          <a:p>
            <a:pPr indent="0" marL="0">
              <a:lnSpc>
                <a:spcPct val="110000"/>
              </a:lnSpc>
              <a:buNone/>
            </a:pPr>
            <a:r>
              <a:rPr lang="en-US" sz="1300" dirty="0">
                <a:solidFill>
                  <a:srgbClr val="3D4458"/>
                </a:solidFill>
                <a:latin typeface="Calibri" pitchFamily="34" charset="0"/>
                <a:ea typeface="Calibri" pitchFamily="34" charset="-122"/>
                <a:cs typeface="Calibri" pitchFamily="34" charset="-120"/>
              </a:rPr>
              <a:t>5. [Textbook / other sources used]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flipV="1">
            <a:off x="0" y="0"/>
            <a:ext cx="1397000" cy="1397000"/>
          </a:xfrm>
          <a:prstGeom prst="rtTriangle">
            <a:avLst/>
          </a:prstGeom>
          <a:solidFill>
            <a:srgbClr val="8E0000"/>
          </a:solidFill>
          <a:ln/>
        </p:spPr>
      </p:sp>
      <p:sp>
        <p:nvSpPr>
          <p:cNvPr id="3" name="Shape 1"/>
          <p:cNvSpPr/>
          <p:nvPr/>
        </p:nvSpPr>
        <p:spPr>
          <a:xfrm flipV="1">
            <a:off x="0" y="0"/>
            <a:ext cx="825500" cy="825500"/>
          </a:xfrm>
          <a:prstGeom prst="rtTriangle">
            <a:avLst/>
          </a:prstGeom>
          <a:solidFill>
            <a:srgbClr val="FFFFFF"/>
          </a:solidFill>
          <a:ln/>
        </p:spPr>
      </p:sp>
      <p:sp>
        <p:nvSpPr>
          <p:cNvPr id="4" name="Shape 2"/>
          <p:cNvSpPr/>
          <p:nvPr/>
        </p:nvSpPr>
        <p:spPr>
          <a:xfrm flipH="1">
            <a:off x="10795000" y="5461000"/>
            <a:ext cx="1397000" cy="1397000"/>
          </a:xfrm>
          <a:prstGeom prst="rtTriangle">
            <a:avLst/>
          </a:prstGeom>
          <a:solidFill>
            <a:srgbClr val="FFFFFF"/>
          </a:solidFill>
          <a:ln/>
        </p:spPr>
      </p:sp>
      <p:sp>
        <p:nvSpPr>
          <p:cNvPr id="5" name="Shape 3"/>
          <p:cNvSpPr/>
          <p:nvPr/>
        </p:nvSpPr>
        <p:spPr>
          <a:xfrm flipH="1">
            <a:off x="11366500" y="6032500"/>
            <a:ext cx="825500" cy="825500"/>
          </a:xfrm>
          <a:prstGeom prst="rtTriangle">
            <a:avLst/>
          </a:prstGeom>
          <a:solidFill>
            <a:srgbClr val="8E0000"/>
          </a:solidFill>
          <a:ln/>
        </p:spPr>
      </p:sp>
      <p:sp>
        <p:nvSpPr>
          <p:cNvPr id="6" name="Shape 4"/>
          <p:cNvSpPr/>
          <p:nvPr/>
        </p:nvSpPr>
        <p:spPr>
          <a:xfrm>
            <a:off x="4724400" y="1397000"/>
            <a:ext cx="2743200" cy="952500"/>
          </a:xfrm>
          <a:prstGeom prst="roundRect">
            <a:avLst>
              <a:gd name="adj" fmla="val 9600"/>
            </a:avLst>
          </a:prstGeom>
          <a:solidFill>
            <a:srgbClr val="FAFAFC"/>
          </a:solidFill>
          <a:ln/>
        </p:spPr>
      </p:sp>
      <p:pic>
        <p:nvPicPr>
          <p:cNvPr id="7" name="Image 0" descr="Anurag University logo">    </p:cNvPr>
          <p:cNvPicPr>
            <a:picLocks noChangeAspect="1"/>
          </p:cNvPicPr>
          <p:nvPr/>
        </p:nvPicPr>
        <p:blipFill>
          <a:blip r:embed="rId1"/>
          <a:stretch>
            <a:fillRect/>
          </a:stretch>
        </p:blipFill>
        <p:spPr>
          <a:xfrm>
            <a:off x="4953000" y="1536700"/>
            <a:ext cx="2286000" cy="673100"/>
          </a:xfrm>
          <a:prstGeom prst="rect">
            <a:avLst/>
          </a:prstGeom>
        </p:spPr>
      </p:pic>
      <p:sp>
        <p:nvSpPr>
          <p:cNvPr id="8" name="Text 5"/>
          <p:cNvSpPr/>
          <p:nvPr/>
        </p:nvSpPr>
        <p:spPr>
          <a:xfrm>
            <a:off x="812800" y="2667000"/>
            <a:ext cx="10566400" cy="10160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9" name="Text 6"/>
          <p:cNvSpPr txBox="1"/>
          <p:nvPr/>
        </p:nvSpPr>
        <p:spPr>
          <a:xfrm>
            <a:off x="812800" y="3810000"/>
            <a:ext cx="10566400" cy="381000"/>
          </a:xfrm>
          <a:prstGeom prst="rect">
            <a:avLst/>
          </a:prstGeom>
          <a:noFill/>
          <a:ln/>
        </p:spPr>
        <p:txBody>
          <a:bodyPr wrap="square" lIns="0" tIns="0" rIns="0" bIns="0" rtlCol="0" anchor="t"/>
          <a:lstStyle/>
          <a:p>
            <a:pPr algn="ctr" indent="0" marL="0">
              <a:buNone/>
            </a:pPr>
            <a:r>
              <a:rPr lang="en-US" sz="2000" dirty="0">
                <a:solidFill>
                  <a:srgbClr val="FFFFFF"/>
                </a:solidFill>
                <a:latin typeface="Calibri" pitchFamily="34" charset="0"/>
                <a:ea typeface="Calibri" pitchFamily="34" charset="-122"/>
                <a:cs typeface="Calibri" pitchFamily="34" charset="-120"/>
              </a:rPr>
              <a:t>Questions?</a:t>
            </a:r>
            <a:endParaRPr lang="en-US" sz="2000" dirty="0"/>
          </a:p>
        </p:txBody>
      </p:sp>
      <p:sp>
        <p:nvSpPr>
          <p:cNvPr id="10" name="Text 7"/>
          <p:cNvSpPr txBox="1"/>
          <p:nvPr/>
        </p:nvSpPr>
        <p:spPr>
          <a:xfrm>
            <a:off x="812800" y="4292600"/>
            <a:ext cx="10566400" cy="279400"/>
          </a:xfrm>
          <a:prstGeom prst="rect">
            <a:avLst/>
          </a:prstGeom>
          <a:noFill/>
          <a:ln/>
        </p:spPr>
        <p:txBody>
          <a:bodyPr wrap="square" lIns="0" tIns="0" rIns="0" bIns="0" rtlCol="0" anchor="t"/>
          <a:lstStyle/>
          <a:p>
            <a:pPr algn="ctr" indent="0" marL="0">
              <a:buNone/>
            </a:pPr>
            <a:r>
              <a:rPr lang="en-US" sz="1400" dirty="0">
                <a:solidFill>
                  <a:srgbClr val="C9D2E6"/>
                </a:solidFill>
                <a:latin typeface="Calibri" pitchFamily="34" charset="0"/>
                <a:ea typeface="Calibri" pitchFamily="34" charset="-122"/>
                <a:cs typeface="Calibri" pitchFamily="34" charset="-120"/>
              </a:rPr>
              <a:t>Team [No.] · Kaboom's Kitchen</a:t>
            </a:r>
            <a:endParaRPr lang="en-US" sz="1400" dirty="0"/>
          </a:p>
        </p:txBody>
      </p:sp>
    </p:spTree>
  </p:cSld>
  <p:clrMapOvr>
    <a:masterClrMapping/>
  </p:clrMapOvr>
</p:sld>
</file>

<file path=ppt/theme/theme1.xml><?xml version="1.0" encoding="utf-8"?>
<a:theme xmlns:a="http://schemas.openxmlformats.org/drawingml/2006/main" name="Anurag University EWP">
  <a:themeElements>
    <a:clrScheme name="Anurag University EWP">
      <a:dk1>
        <a:srgbClr val="1B1F2E"/>
      </a:dk1>
      <a:lt1>
        <a:srgbClr val="FFFFFF"/>
      </a:lt1>
      <a:dk2>
        <a:srgbClr val="002060"/>
      </a:dk2>
      <a:lt2>
        <a:srgbClr val="FAFAFC"/>
      </a:lt2>
      <a:accent1>
        <a:srgbClr val="002060"/>
      </a:accent1>
      <a:accent2>
        <a:srgbClr val="8E0000"/>
      </a:accent2>
      <a:accent3>
        <a:srgbClr val="3D4458"/>
      </a:accent3>
      <a:accent4>
        <a:srgbClr val="5A6175"/>
      </a:accent4>
      <a:accent5>
        <a:srgbClr val="8A93A8"/>
      </a:accent5>
      <a:accent6>
        <a:srgbClr val="0F1C3F"/>
      </a:accent6>
      <a:hlink>
        <a:srgbClr val="002060"/>
      </a:hlink>
      <a:folHlink>
        <a:srgbClr val="8E0000"/>
      </a:folHlink>
    </a:clrScheme>
    <a:fontScheme name="Anurag University EW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EWP Project PPT Template – Unit V Angular</dc:title>
  <dc:subject>PptxGenJS Presentation</dc:subject>
  <dc:creator>Dept. of AI &amp; ML, Anurag University</dc:creator>
  <cp:lastModifiedBy>Dept. of AI &amp; ML, Anurag University</cp:lastModifiedBy>
  <cp:revision>1</cp:revision>
  <dcterms:created xsi:type="dcterms:W3CDTF">2026-10-12T05:37:35Z</dcterms:created>
  <dcterms:modified xsi:type="dcterms:W3CDTF">2026-10-12T05:37:35Z</dcterms:modified>
</cp:coreProperties>
</file>